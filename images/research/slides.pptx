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3" r:id="rId1"/>
  </p:sldMasterIdLst>
  <p:notesMasterIdLst>
    <p:notesMasterId r:id="rId6"/>
  </p:notesMasterIdLst>
  <p:handoutMasterIdLst>
    <p:handoutMasterId r:id="rId7"/>
  </p:handoutMasterIdLst>
  <p:sldIdLst>
    <p:sldId id="654" r:id="rId2"/>
    <p:sldId id="690" r:id="rId3"/>
    <p:sldId id="691" r:id="rId4"/>
    <p:sldId id="692" r:id="rId5"/>
  </p:sldIdLst>
  <p:sldSz cx="9144000" cy="6858000" type="screen4x3"/>
  <p:notesSz cx="6858000" cy="9144000"/>
  <p:defaultTextStyle>
    <a:defPPr>
      <a:defRPr lang="zh-CN"/>
    </a:defPPr>
    <a:lvl1pPr algn="l" rtl="0" eaLnBrk="0" fontAlgn="base" hangingPunct="0">
      <a:spcBef>
        <a:spcPct val="0"/>
      </a:spcBef>
      <a:spcAft>
        <a:spcPct val="0"/>
      </a:spcAft>
      <a:defRPr sz="2400" b="1" kern="1200">
        <a:solidFill>
          <a:schemeClr val="tx1"/>
        </a:solidFill>
        <a:latin typeface="Arial" panose="020B0604020202020204" pitchFamily="34" charset="0"/>
        <a:ea typeface="黑体" panose="02010609060101010101" pitchFamily="49" charset="-122"/>
        <a:cs typeface="+mn-cs"/>
      </a:defRPr>
    </a:lvl1pPr>
    <a:lvl2pPr marL="457200" algn="l" rtl="0" eaLnBrk="0" fontAlgn="base" hangingPunct="0">
      <a:spcBef>
        <a:spcPct val="0"/>
      </a:spcBef>
      <a:spcAft>
        <a:spcPct val="0"/>
      </a:spcAft>
      <a:defRPr sz="2400" b="1" kern="1200">
        <a:solidFill>
          <a:schemeClr val="tx1"/>
        </a:solidFill>
        <a:latin typeface="Arial" panose="020B0604020202020204" pitchFamily="34" charset="0"/>
        <a:ea typeface="黑体" panose="02010609060101010101" pitchFamily="49" charset="-122"/>
        <a:cs typeface="+mn-cs"/>
      </a:defRPr>
    </a:lvl2pPr>
    <a:lvl3pPr marL="914400" algn="l" rtl="0" eaLnBrk="0" fontAlgn="base" hangingPunct="0">
      <a:spcBef>
        <a:spcPct val="0"/>
      </a:spcBef>
      <a:spcAft>
        <a:spcPct val="0"/>
      </a:spcAft>
      <a:defRPr sz="2400" b="1" kern="1200">
        <a:solidFill>
          <a:schemeClr val="tx1"/>
        </a:solidFill>
        <a:latin typeface="Arial" panose="020B0604020202020204" pitchFamily="34" charset="0"/>
        <a:ea typeface="黑体" panose="02010609060101010101" pitchFamily="49" charset="-122"/>
        <a:cs typeface="+mn-cs"/>
      </a:defRPr>
    </a:lvl3pPr>
    <a:lvl4pPr marL="1371600" algn="l" rtl="0" eaLnBrk="0" fontAlgn="base" hangingPunct="0">
      <a:spcBef>
        <a:spcPct val="0"/>
      </a:spcBef>
      <a:spcAft>
        <a:spcPct val="0"/>
      </a:spcAft>
      <a:defRPr sz="2400" b="1" kern="1200">
        <a:solidFill>
          <a:schemeClr val="tx1"/>
        </a:solidFill>
        <a:latin typeface="Arial" panose="020B0604020202020204" pitchFamily="34" charset="0"/>
        <a:ea typeface="黑体" panose="02010609060101010101" pitchFamily="49" charset="-122"/>
        <a:cs typeface="+mn-cs"/>
      </a:defRPr>
    </a:lvl4pPr>
    <a:lvl5pPr marL="1828800" algn="l" rtl="0" eaLnBrk="0" fontAlgn="base" hangingPunct="0">
      <a:spcBef>
        <a:spcPct val="0"/>
      </a:spcBef>
      <a:spcAft>
        <a:spcPct val="0"/>
      </a:spcAft>
      <a:defRPr sz="2400" b="1" kern="1200">
        <a:solidFill>
          <a:schemeClr val="tx1"/>
        </a:solidFill>
        <a:latin typeface="Arial" panose="020B0604020202020204" pitchFamily="34" charset="0"/>
        <a:ea typeface="黑体" panose="02010609060101010101" pitchFamily="49" charset="-122"/>
        <a:cs typeface="+mn-cs"/>
      </a:defRPr>
    </a:lvl5pPr>
    <a:lvl6pPr marL="2286000" algn="l" defTabSz="914400" rtl="0" eaLnBrk="1" latinLnBrk="0" hangingPunct="1">
      <a:defRPr sz="2400" b="1" kern="1200">
        <a:solidFill>
          <a:schemeClr val="tx1"/>
        </a:solidFill>
        <a:latin typeface="Arial" panose="020B0604020202020204" pitchFamily="34" charset="0"/>
        <a:ea typeface="黑体" panose="02010609060101010101" pitchFamily="49" charset="-122"/>
        <a:cs typeface="+mn-cs"/>
      </a:defRPr>
    </a:lvl6pPr>
    <a:lvl7pPr marL="2743200" algn="l" defTabSz="914400" rtl="0" eaLnBrk="1" latinLnBrk="0" hangingPunct="1">
      <a:defRPr sz="2400" b="1" kern="1200">
        <a:solidFill>
          <a:schemeClr val="tx1"/>
        </a:solidFill>
        <a:latin typeface="Arial" panose="020B0604020202020204" pitchFamily="34" charset="0"/>
        <a:ea typeface="黑体" panose="02010609060101010101" pitchFamily="49" charset="-122"/>
        <a:cs typeface="+mn-cs"/>
      </a:defRPr>
    </a:lvl7pPr>
    <a:lvl8pPr marL="3200400" algn="l" defTabSz="914400" rtl="0" eaLnBrk="1" latinLnBrk="0" hangingPunct="1">
      <a:defRPr sz="2400" b="1" kern="1200">
        <a:solidFill>
          <a:schemeClr val="tx1"/>
        </a:solidFill>
        <a:latin typeface="Arial" panose="020B0604020202020204" pitchFamily="34" charset="0"/>
        <a:ea typeface="黑体" panose="02010609060101010101" pitchFamily="49" charset="-122"/>
        <a:cs typeface="+mn-cs"/>
      </a:defRPr>
    </a:lvl8pPr>
    <a:lvl9pPr marL="3657600" algn="l" defTabSz="914400" rtl="0" eaLnBrk="1" latinLnBrk="0" hangingPunct="1">
      <a:defRPr sz="2400" b="1" kern="1200">
        <a:solidFill>
          <a:schemeClr val="tx1"/>
        </a:solidFill>
        <a:latin typeface="Arial" panose="020B0604020202020204" pitchFamily="34" charset="0"/>
        <a:ea typeface="黑体" panose="02010609060101010101" pitchFamily="49"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F4FF"/>
    <a:srgbClr val="FF0000"/>
    <a:srgbClr val="FFFFFF"/>
    <a:srgbClr val="CCFFCC"/>
    <a:srgbClr val="CCFFFF"/>
    <a:srgbClr val="CCECFF"/>
    <a:srgbClr val="FFCCFF"/>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132" autoAdjust="0"/>
    <p:restoredTop sz="94073" autoAdjust="0"/>
  </p:normalViewPr>
  <p:slideViewPr>
    <p:cSldViewPr>
      <p:cViewPr varScale="1">
        <p:scale>
          <a:sx n="53" d="100"/>
          <a:sy n="53" d="100"/>
        </p:scale>
        <p:origin x="1133" y="62"/>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notesViewPr>
    <p:cSldViewPr>
      <p:cViewPr varScale="1">
        <p:scale>
          <a:sx n="43" d="100"/>
          <a:sy n="43" d="100"/>
        </p:scale>
        <p:origin x="-1685" y="-6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handoutMaster" Target="handoutMasters/handout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402"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0" hangingPunct="0">
              <a:defRPr sz="1200">
                <a:ea typeface="SimSun" panose="02010600030101010101" pitchFamily="2" charset="-122"/>
              </a:defRPr>
            </a:lvl1pPr>
          </a:lstStyle>
          <a:p>
            <a:pPr>
              <a:defRPr/>
            </a:pPr>
            <a:endParaRPr lang="en-US" altLang="zh-CN"/>
          </a:p>
        </p:txBody>
      </p:sp>
      <p:sp>
        <p:nvSpPr>
          <p:cNvPr id="102403" name="Rectangle 3"/>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0" hangingPunct="0">
              <a:defRPr sz="1200">
                <a:ea typeface="SimSun" panose="02010600030101010101" pitchFamily="2" charset="-122"/>
              </a:defRPr>
            </a:lvl1pPr>
          </a:lstStyle>
          <a:p>
            <a:pPr>
              <a:defRPr/>
            </a:pPr>
            <a:fld id="{93734160-319A-40AF-8D45-89AD95AA1CDD}" type="datetimeFigureOut">
              <a:rPr lang="en-US" altLang="zh-CN"/>
              <a:pPr>
                <a:defRPr/>
              </a:pPr>
              <a:t>8/8/2024</a:t>
            </a:fld>
            <a:endParaRPr lang="en-US" altLang="zh-CN"/>
          </a:p>
        </p:txBody>
      </p:sp>
      <p:sp>
        <p:nvSpPr>
          <p:cNvPr id="102404" name="Rectangle 4"/>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eaLnBrk="0" hangingPunct="0">
              <a:defRPr sz="1200">
                <a:ea typeface="SimSun" panose="02010600030101010101" pitchFamily="2" charset="-122"/>
              </a:defRPr>
            </a:lvl1pPr>
          </a:lstStyle>
          <a:p>
            <a:pPr>
              <a:defRPr/>
            </a:pPr>
            <a:endParaRPr lang="en-US" altLang="zh-CN"/>
          </a:p>
        </p:txBody>
      </p:sp>
      <p:sp>
        <p:nvSpPr>
          <p:cNvPr id="102405" name="Rectangle 5"/>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eaLnBrk="0" hangingPunct="0">
              <a:defRPr sz="1200">
                <a:ea typeface="SimSun" panose="02010600030101010101" pitchFamily="2" charset="-122"/>
              </a:defRPr>
            </a:lvl1pPr>
          </a:lstStyle>
          <a:p>
            <a:pPr>
              <a:defRPr/>
            </a:pPr>
            <a:fld id="{304E7BB6-26C6-4479-B48D-F2BB74E03054}" type="slidenum">
              <a:rPr lang="en-US" altLang="zh-CN"/>
              <a:pPr>
                <a:defRPr/>
              </a:pPr>
              <a:t>‹#›</a:t>
            </a:fld>
            <a:endParaRPr lang="en-US" altLang="zh-CN"/>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ea typeface="SimSun" panose="02010600030101010101" pitchFamily="2" charset="-122"/>
              </a:defRPr>
            </a:lvl1pPr>
          </a:lstStyle>
          <a:p>
            <a:pPr>
              <a:defRPr/>
            </a:pPr>
            <a:endParaRPr lang="en-US" altLang="zh-CN"/>
          </a:p>
        </p:txBody>
      </p:sp>
      <p:sp>
        <p:nvSpPr>
          <p:cNvPr id="3" name="날짜 개체 틀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ea typeface="SimSun" panose="02010600030101010101" pitchFamily="2" charset="-122"/>
              </a:defRPr>
            </a:lvl1pPr>
          </a:lstStyle>
          <a:p>
            <a:pPr>
              <a:defRPr/>
            </a:pPr>
            <a:fld id="{B59D5A6E-3413-40AA-B4F3-F6D8D8FF9C19}" type="datetimeFigureOut">
              <a:rPr lang="en-US" altLang="zh-CN"/>
              <a:pPr>
                <a:defRPr/>
              </a:pPr>
              <a:t>8/8/2024</a:t>
            </a:fld>
            <a:endParaRPr lang="en-US" altLang="zh-CN"/>
          </a:p>
        </p:txBody>
      </p:sp>
      <p:sp>
        <p:nvSpPr>
          <p:cNvPr id="4" name="슬라이드 이미지 개체 틀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슬라이드 노트 개체 틀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ko-KR" altLang="en-US" noProof="0" smtClean="0"/>
              <a:t>마스터 텍스트 스타일을 편집합니다</a:t>
            </a:r>
          </a:p>
          <a:p>
            <a:pPr lvl="1"/>
            <a:r>
              <a:rPr lang="ko-KR" altLang="en-US" noProof="0" smtClean="0"/>
              <a:t>둘째 수준</a:t>
            </a:r>
          </a:p>
          <a:p>
            <a:pPr lvl="2"/>
            <a:r>
              <a:rPr lang="ko-KR" altLang="en-US" noProof="0" smtClean="0"/>
              <a:t>셋째 수준</a:t>
            </a:r>
          </a:p>
          <a:p>
            <a:pPr lvl="3"/>
            <a:r>
              <a:rPr lang="ko-KR" altLang="en-US" noProof="0" smtClean="0"/>
              <a:t>넷째 수준</a:t>
            </a:r>
          </a:p>
          <a:p>
            <a:pPr lvl="4"/>
            <a:r>
              <a:rPr lang="ko-KR" altLang="en-US" noProof="0" smtClean="0"/>
              <a:t>다섯째 수준</a:t>
            </a:r>
            <a:endParaRPr lang="en-US" altLang="zh-CN" noProof="0" smtClean="0"/>
          </a:p>
        </p:txBody>
      </p:sp>
      <p:sp>
        <p:nvSpPr>
          <p:cNvPr id="6" name="바닥글 개체 틀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ea typeface="SimSun" panose="02010600030101010101" pitchFamily="2" charset="-122"/>
              </a:defRPr>
            </a:lvl1pPr>
          </a:lstStyle>
          <a:p>
            <a:pPr>
              <a:defRPr/>
            </a:pPr>
            <a:endParaRPr lang="en-US" altLang="zh-CN"/>
          </a:p>
        </p:txBody>
      </p:sp>
      <p:sp>
        <p:nvSpPr>
          <p:cNvPr id="7" name="슬라이드 번호 개체 틀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ea typeface="SimSun" panose="02010600030101010101" pitchFamily="2" charset="-122"/>
              </a:defRPr>
            </a:lvl1pPr>
          </a:lstStyle>
          <a:p>
            <a:pPr>
              <a:defRPr/>
            </a:pPr>
            <a:fld id="{EA55ACA1-751D-4520-B8AA-80EA1C433E37}" type="slidenum">
              <a:rPr lang="en-US" altLang="zh-CN"/>
              <a:pPr>
                <a:defRPr/>
              </a:pPr>
              <a:t>‹#›</a:t>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SimSun"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mn-lt"/>
        <a:ea typeface="SimSun"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mn-lt"/>
        <a:ea typeface="SimSun"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mn-lt"/>
        <a:ea typeface="SimSun"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mn-lt"/>
        <a:ea typeface="SimSun"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Rectangle 3"/>
          <p:cNvSpPr>
            <a:spLocks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smtClean="0"/>
              <a:t>In the beginning, I would like to give you an overview about our research interests. Our efforts are focused on the design and fabrication of advanced photonic materials and devices, basically, all kinds of devices that can receive, emit, or guide the light. And use them for different applications like energy, communication and healthcare. Here are a few examples. For light receivers, we developed vertically stacked, multijunction solar cells by printing methods. These microscale solar cells can capture the entire broadband solar spectrum and realize ultrahigh efficiency. In this work, we developed thin-film silicon based photodiode arrays and transferred them onto a fluorecence based flexible substrate. We use these detector arrays to obtain visible-blind ultraviolet detection and imaging. We also transferred thin-film III-V lasers on silicon substrates to achieve a on-chip light source for next-generation photonic integrated circuit. We fabricated microscale, III-V LEDs with different colors on flexible substrates and use them for biomedical applications, I will talk about some of this work later. In addition, we are working on implantable fibers and microneedles based on biodegradable materials and using them for optical stimulation and light triggered drug release.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Rectangle 3"/>
          <p:cNvSpPr>
            <a:spLocks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smtClean="0"/>
              <a:t>In the beginning, I would like to give you an overview about our research interests. Our efforts are focused on the design and fabrication of advanced photonic materials and devices, basically, all kinds of devices that can receive, emit, or guide the light. And use them for different applications like energy, communication and healthcare. Here are a few examples. For light receivers, we developed vertically stacked, multijunction solar cells by printing methods. These microscale solar cells can capture the entire broadband solar spectrum and realize ultrahigh efficiency. In this work, we developed thin-film silicon based photodiode arrays and transferred them onto a fluorecence based flexible substrate. We use these detector arrays to obtain visible-blind ultraviolet detection and imaging. We also transferred thin-film III-V lasers on silicon substrates to achieve a on-chip light source for next-generation photonic integrated circuit. We fabricated microscale, III-V LEDs with different colors on flexible substrates and use them for biomedical applications, I will talk about some of this work later. In addition, we are working on implantable fibers and microneedles based on biodegradable materials and using them for optical stimulation and light triggered drug release.</a:t>
            </a:r>
          </a:p>
        </p:txBody>
      </p:sp>
    </p:spTree>
    <p:extLst>
      <p:ext uri="{BB962C8B-B14F-4D97-AF65-F5344CB8AC3E}">
        <p14:creationId xmlns:p14="http://schemas.microsoft.com/office/powerpoint/2010/main" val="8539005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Rectangle 3"/>
          <p:cNvSpPr>
            <a:spLocks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smtClean="0"/>
              <a:t>In the beginning, I would like to give you an overview about our research interests. Our efforts are focused on the design and fabrication of advanced photonic materials and devices, basically, all kinds of devices that can receive, emit, or guide the light. And use them for different applications like energy, communication and healthcare. Here are a few examples. For light receivers, we developed vertically stacked, multijunction solar cells by printing methods. These microscale solar cells can capture the entire broadband solar spectrum and realize ultrahigh efficiency. In this work, we developed thin-film silicon based photodiode arrays and transferred them onto a fluorecence based flexible substrate. We use these detector arrays to obtain visible-blind ultraviolet detection and imaging. We also transferred thin-film III-V lasers on silicon substrates to achieve a on-chip light source for next-generation photonic integrated circuit. We fabricated microscale, III-V LEDs with different colors on flexible substrates and use them for biomedical applications, I will talk about some of this work later. In addition, we are working on implantable fibers and microneedles based on biodegradable materials and using them for optical stimulation and light triggered drug release.</a:t>
            </a:r>
          </a:p>
        </p:txBody>
      </p:sp>
    </p:spTree>
    <p:extLst>
      <p:ext uri="{BB962C8B-B14F-4D97-AF65-F5344CB8AC3E}">
        <p14:creationId xmlns:p14="http://schemas.microsoft.com/office/powerpoint/2010/main" val="11486617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Rectangle 3"/>
          <p:cNvSpPr>
            <a:spLocks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smtClean="0"/>
              <a:t>In the beginning, I would like to give you an overview about our research interests. Our efforts are focused on the design and fabrication of advanced photonic materials and devices, basically, all kinds of devices that can receive, emit, or guide the light. And use them for different applications like energy, communication and healthcare. Here are a few examples. For light receivers, we developed vertically stacked, multijunction solar cells by printing methods. These microscale solar cells can capture the entire broadband solar spectrum and realize ultrahigh efficiency. In this work, we developed thin-film silicon based photodiode arrays and transferred them onto a fluorecence based flexible substrate. We use these detector arrays to obtain visible-blind ultraviolet detection and imaging. We also transferred thin-film III-V lasers on silicon substrates to achieve a on-chip light source for next-generation photonic integrated circuit. We fabricated microscale, III-V LEDs with different colors on flexible substrates and use them for biomedical applications, I will talk about some of this work later. In addition, we are working on implantable fibers and microneedles based on biodegradable materials and using them for optical stimulation and light triggered drug release.</a:t>
            </a:r>
          </a:p>
        </p:txBody>
      </p:sp>
    </p:spTree>
    <p:extLst>
      <p:ext uri="{BB962C8B-B14F-4D97-AF65-F5344CB8AC3E}">
        <p14:creationId xmlns:p14="http://schemas.microsoft.com/office/powerpoint/2010/main" val="3894653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슬라이드">
    <p:spTree>
      <p:nvGrpSpPr>
        <p:cNvPr id="1" name=""/>
        <p:cNvGrpSpPr/>
        <p:nvPr/>
      </p:nvGrpSpPr>
      <p:grpSpPr>
        <a:xfrm>
          <a:off x="0" y="0"/>
          <a:ext cx="0" cy="0"/>
          <a:chOff x="0" y="0"/>
          <a:chExt cx="0" cy="0"/>
        </a:xfrm>
      </p:grpSpPr>
      <p:sp>
        <p:nvSpPr>
          <p:cNvPr id="2" name="Rectangle 2"/>
          <p:cNvSpPr>
            <a:spLocks noChangeArrowheads="1"/>
          </p:cNvSpPr>
          <p:nvPr/>
        </p:nvSpPr>
        <p:spPr bwMode="auto">
          <a:xfrm>
            <a:off x="165100" y="238125"/>
            <a:ext cx="8580438" cy="138113"/>
          </a:xfrm>
          <a:prstGeom prst="rect">
            <a:avLst/>
          </a:prstGeom>
          <a:gradFill rotWithShape="1">
            <a:gsLst>
              <a:gs pos="0">
                <a:schemeClr val="accent2"/>
              </a:gs>
              <a:gs pos="100000">
                <a:schemeClr val="accent2">
                  <a:gamma/>
                  <a:tint val="0"/>
                  <a:invGamma/>
                </a:schemeClr>
              </a:gs>
            </a:gsLst>
            <a:lin ang="0" scaled="1"/>
          </a:gradFill>
          <a:ln w="9525">
            <a:noFill/>
            <a:miter lim="800000"/>
            <a:headEnd/>
            <a:tailEnd/>
          </a:ln>
          <a:effectLst/>
        </p:spPr>
        <p:txBody>
          <a:bodyPr wrap="none" anchor="ctr"/>
          <a:lstStyle>
            <a:lvl1pPr eaLnBrk="0" hangingPunct="0">
              <a:defRPr b="1">
                <a:solidFill>
                  <a:schemeClr val="tx1"/>
                </a:solidFill>
                <a:latin typeface="Arial" panose="020B0604020202020204" pitchFamily="34" charset="0"/>
                <a:ea typeface="SimSun" panose="02010600030101010101" pitchFamily="2" charset="-122"/>
              </a:defRPr>
            </a:lvl1pPr>
            <a:lvl2pPr marL="742950" indent="-285750" eaLnBrk="0" hangingPunct="0">
              <a:defRPr b="1">
                <a:solidFill>
                  <a:schemeClr val="tx1"/>
                </a:solidFill>
                <a:latin typeface="Arial" panose="020B0604020202020204" pitchFamily="34" charset="0"/>
                <a:ea typeface="SimSun" panose="02010600030101010101" pitchFamily="2" charset="-122"/>
              </a:defRPr>
            </a:lvl2pPr>
            <a:lvl3pPr marL="1143000" indent="-228600" eaLnBrk="0" hangingPunct="0">
              <a:defRPr b="1">
                <a:solidFill>
                  <a:schemeClr val="tx1"/>
                </a:solidFill>
                <a:latin typeface="Arial" panose="020B0604020202020204" pitchFamily="34" charset="0"/>
                <a:ea typeface="SimSun" panose="02010600030101010101" pitchFamily="2" charset="-122"/>
              </a:defRPr>
            </a:lvl3pPr>
            <a:lvl4pPr marL="1600200" indent="-228600" eaLnBrk="0" hangingPunct="0">
              <a:defRPr b="1">
                <a:solidFill>
                  <a:schemeClr val="tx1"/>
                </a:solidFill>
                <a:latin typeface="Arial" panose="020B0604020202020204" pitchFamily="34" charset="0"/>
                <a:ea typeface="SimSun" panose="02010600030101010101" pitchFamily="2" charset="-122"/>
              </a:defRPr>
            </a:lvl4pPr>
            <a:lvl5pPr marL="2057400" indent="-228600" eaLnBrk="0" hangingPunct="0">
              <a:defRPr b="1">
                <a:solidFill>
                  <a:schemeClr val="tx1"/>
                </a:solidFill>
                <a:latin typeface="Arial" panose="020B0604020202020204" pitchFamily="34" charset="0"/>
                <a:ea typeface="SimSun"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SimSun"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SimSun"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SimSun"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SimSun" panose="02010600030101010101" pitchFamily="2" charset="-122"/>
              </a:defRPr>
            </a:lvl9pPr>
          </a:lstStyle>
          <a:p>
            <a:pPr eaLnBrk="1" hangingPunct="1">
              <a:defRPr/>
            </a:pPr>
            <a:endParaRPr lang="en-US" altLang="zh-CN" sz="1800" smtClean="0"/>
          </a:p>
        </p:txBody>
      </p:sp>
      <p:sp>
        <p:nvSpPr>
          <p:cNvPr id="3" name="Line 7"/>
          <p:cNvSpPr>
            <a:spLocks noChangeShapeType="1"/>
          </p:cNvSpPr>
          <p:nvPr userDrawn="1"/>
        </p:nvSpPr>
        <p:spPr bwMode="auto">
          <a:xfrm>
            <a:off x="457200" y="1219200"/>
            <a:ext cx="8153400" cy="0"/>
          </a:xfrm>
          <a:prstGeom prst="line">
            <a:avLst/>
          </a:prstGeom>
          <a:noFill/>
          <a:ln w="38100">
            <a:solidFill>
              <a:schemeClr val="accent2"/>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 name="Rectangle 13"/>
          <p:cNvSpPr>
            <a:spLocks noGrp="1" noChangeArrowheads="1"/>
          </p:cNvSpPr>
          <p:nvPr>
            <p:ph type="sldNum" sz="quarter" idx="10"/>
          </p:nvPr>
        </p:nvSpPr>
        <p:spPr/>
        <p:txBody>
          <a:bodyPr/>
          <a:lstStyle>
            <a:lvl1pPr>
              <a:defRPr/>
            </a:lvl1pPr>
          </a:lstStyle>
          <a:p>
            <a:pPr>
              <a:defRPr/>
            </a:pPr>
            <a:fld id="{1EC96834-4B9F-4D56-8D09-7DC6B27DD88E}" type="slidenum">
              <a:rPr lang="en-US" altLang="zh-CN"/>
              <a:pPr>
                <a:defRPr/>
              </a:pPr>
              <a:t>‹#›</a:t>
            </a:fld>
            <a:endParaRPr lang="en-US" altLang="zh-CN"/>
          </a:p>
        </p:txBody>
      </p:sp>
    </p:spTree>
    <p:extLst>
      <p:ext uri="{BB962C8B-B14F-4D97-AF65-F5344CB8AC3E}">
        <p14:creationId xmlns:p14="http://schemas.microsoft.com/office/powerpoint/2010/main" val="2456892339"/>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zh-CN" smtClean="0"/>
              <a:t>Click to edit Master title style</a:t>
            </a:r>
            <a:endParaRPr lang="en-US" altLang="ko-KR" smtClean="0"/>
          </a:p>
        </p:txBody>
      </p:sp>
      <p:sp>
        <p:nvSpPr>
          <p:cNvPr id="1027"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smtClean="0"/>
              <a:t>Click to edit Master text styles</a:t>
            </a:r>
          </a:p>
          <a:p>
            <a:pPr lvl="1"/>
            <a:r>
              <a:rPr lang="en-US" altLang="zh-CN" smtClean="0"/>
              <a:t>Second level</a:t>
            </a:r>
          </a:p>
          <a:p>
            <a:pPr lvl="2"/>
            <a:r>
              <a:rPr lang="en-US" altLang="zh-CN" smtClean="0"/>
              <a:t>Third level</a:t>
            </a:r>
          </a:p>
          <a:p>
            <a:pPr lvl="3"/>
            <a:r>
              <a:rPr lang="en-US" altLang="zh-CN" smtClean="0"/>
              <a:t>Fourth level</a:t>
            </a:r>
          </a:p>
          <a:p>
            <a:pPr lvl="4"/>
            <a:r>
              <a:rPr lang="en-US" altLang="zh-CN" smtClean="0"/>
              <a:t>Fifth level</a:t>
            </a:r>
          </a:p>
        </p:txBody>
      </p:sp>
      <p:sp>
        <p:nvSpPr>
          <p:cNvPr id="11" name="Rectangle 13"/>
          <p:cNvSpPr>
            <a:spLocks noGrp="1" noChangeArrowheads="1"/>
          </p:cNvSpPr>
          <p:nvPr>
            <p:ph type="sldNum" sz="quarter" idx="4"/>
          </p:nvPr>
        </p:nvSpPr>
        <p:spPr bwMode="auto">
          <a:xfrm>
            <a:off x="8516938" y="6296025"/>
            <a:ext cx="627062" cy="4889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eaLnBrk="1" hangingPunct="1">
              <a:defRPr sz="2000" b="0">
                <a:ea typeface="MS PGothic" panose="020B0600070205080204" pitchFamily="34" charset="-128"/>
              </a:defRPr>
            </a:lvl1pPr>
          </a:lstStyle>
          <a:p>
            <a:pPr>
              <a:defRPr/>
            </a:pPr>
            <a:fld id="{65A18C33-15B5-4A50-BCC1-074F341BCCC6}" type="slidenum">
              <a:rPr lang="en-US" altLang="zh-CN"/>
              <a:pPr>
                <a:defRPr/>
              </a:pPr>
              <a:t>‹#›</a:t>
            </a:fld>
            <a:endParaRPr lang="en-US" altLang="zh-CN"/>
          </a:p>
        </p:txBody>
      </p:sp>
    </p:spTree>
  </p:cSld>
  <p:clrMap bg1="lt1" tx1="dk1" bg2="lt2" tx2="dk2" accent1="accent1" accent2="accent2" accent3="accent3" accent4="accent4" accent5="accent5" accent6="accent6" hlink="hlink" folHlink="folHlink"/>
  <p:sldLayoutIdLst>
    <p:sldLayoutId id="2147483760" r:id="rId1"/>
  </p:sldLayoutIdLst>
  <p:timing>
    <p:tnLst>
      <p:par>
        <p:cTn id="1" dur="indefinite" restart="never" nodeType="tmRoot"/>
      </p:par>
    </p:tnLst>
  </p:timing>
  <p:txStyles>
    <p:titleStyle>
      <a:lvl1pPr algn="l" rtl="0" eaLnBrk="0" fontAlgn="base" hangingPunct="0">
        <a:spcBef>
          <a:spcPct val="0"/>
        </a:spcBef>
        <a:spcAft>
          <a:spcPct val="0"/>
        </a:spcAft>
        <a:defRPr sz="3200" b="1">
          <a:solidFill>
            <a:srgbClr val="084887"/>
          </a:solidFill>
          <a:latin typeface="+mj-lt"/>
          <a:ea typeface="+mj-ea"/>
          <a:cs typeface="+mj-cs"/>
        </a:defRPr>
      </a:lvl1pPr>
      <a:lvl2pPr algn="l" rtl="0" eaLnBrk="0" fontAlgn="base" hangingPunct="0">
        <a:spcBef>
          <a:spcPct val="0"/>
        </a:spcBef>
        <a:spcAft>
          <a:spcPct val="0"/>
        </a:spcAft>
        <a:defRPr sz="3200" b="1">
          <a:solidFill>
            <a:srgbClr val="084887"/>
          </a:solidFill>
          <a:latin typeface="Arial" charset="0"/>
        </a:defRPr>
      </a:lvl2pPr>
      <a:lvl3pPr algn="l" rtl="0" eaLnBrk="0" fontAlgn="base" hangingPunct="0">
        <a:spcBef>
          <a:spcPct val="0"/>
        </a:spcBef>
        <a:spcAft>
          <a:spcPct val="0"/>
        </a:spcAft>
        <a:defRPr sz="3200" b="1">
          <a:solidFill>
            <a:srgbClr val="084887"/>
          </a:solidFill>
          <a:latin typeface="Arial" charset="0"/>
        </a:defRPr>
      </a:lvl3pPr>
      <a:lvl4pPr algn="l" rtl="0" eaLnBrk="0" fontAlgn="base" hangingPunct="0">
        <a:spcBef>
          <a:spcPct val="0"/>
        </a:spcBef>
        <a:spcAft>
          <a:spcPct val="0"/>
        </a:spcAft>
        <a:defRPr sz="3200" b="1">
          <a:solidFill>
            <a:srgbClr val="084887"/>
          </a:solidFill>
          <a:latin typeface="Arial" charset="0"/>
        </a:defRPr>
      </a:lvl4pPr>
      <a:lvl5pPr algn="l" rtl="0" eaLnBrk="0" fontAlgn="base" hangingPunct="0">
        <a:spcBef>
          <a:spcPct val="0"/>
        </a:spcBef>
        <a:spcAft>
          <a:spcPct val="0"/>
        </a:spcAft>
        <a:defRPr sz="3200" b="1">
          <a:solidFill>
            <a:srgbClr val="084887"/>
          </a:solidFill>
          <a:latin typeface="Arial" charset="0"/>
        </a:defRPr>
      </a:lvl5pPr>
      <a:lvl6pPr marL="457200" algn="ctr" rtl="0" eaLnBrk="0" fontAlgn="base" hangingPunct="0">
        <a:spcBef>
          <a:spcPct val="0"/>
        </a:spcBef>
        <a:spcAft>
          <a:spcPct val="0"/>
        </a:spcAft>
        <a:defRPr sz="2400" b="1">
          <a:solidFill>
            <a:schemeClr val="tx1"/>
          </a:solidFill>
          <a:latin typeface="Arial" charset="0"/>
        </a:defRPr>
      </a:lvl6pPr>
      <a:lvl7pPr marL="914400" algn="ctr" rtl="0" eaLnBrk="0" fontAlgn="base" hangingPunct="0">
        <a:spcBef>
          <a:spcPct val="0"/>
        </a:spcBef>
        <a:spcAft>
          <a:spcPct val="0"/>
        </a:spcAft>
        <a:defRPr sz="2400" b="1">
          <a:solidFill>
            <a:schemeClr val="tx1"/>
          </a:solidFill>
          <a:latin typeface="Arial" charset="0"/>
        </a:defRPr>
      </a:lvl7pPr>
      <a:lvl8pPr marL="1371600" algn="ctr" rtl="0" eaLnBrk="0" fontAlgn="base" hangingPunct="0">
        <a:spcBef>
          <a:spcPct val="0"/>
        </a:spcBef>
        <a:spcAft>
          <a:spcPct val="0"/>
        </a:spcAft>
        <a:defRPr sz="2400" b="1">
          <a:solidFill>
            <a:schemeClr val="tx1"/>
          </a:solidFill>
          <a:latin typeface="Arial" charset="0"/>
        </a:defRPr>
      </a:lvl8pPr>
      <a:lvl9pPr marL="1828800" algn="ctr" rtl="0" eaLnBrk="0" fontAlgn="base" hangingPunct="0">
        <a:spcBef>
          <a:spcPct val="0"/>
        </a:spcBef>
        <a:spcAft>
          <a:spcPct val="0"/>
        </a:spcAft>
        <a:defRPr sz="2400" b="1">
          <a:solidFill>
            <a:schemeClr val="tx1"/>
          </a:solidFill>
          <a:latin typeface="Arial" charset="0"/>
        </a:defRPr>
      </a:lvl9pPr>
    </p:titleStyle>
    <p:bodyStyle>
      <a:lvl1pPr marL="342900" indent="-342900" algn="l" rtl="0" eaLnBrk="0" fontAlgn="base" hangingPunct="0">
        <a:spcBef>
          <a:spcPct val="20000"/>
        </a:spcBef>
        <a:spcAft>
          <a:spcPct val="0"/>
        </a:spcAft>
        <a:buClr>
          <a:srgbClr val="084887"/>
        </a:buClr>
        <a:buSzPct val="120000"/>
        <a:buFont typeface="Wingdings" panose="05000000000000000000" pitchFamily="2" charset="2"/>
        <a:buChar char="§"/>
        <a:defRPr sz="2400">
          <a:solidFill>
            <a:schemeClr val="tx1"/>
          </a:solidFill>
          <a:latin typeface="+mn-lt"/>
          <a:ea typeface="+mn-ea"/>
          <a:cs typeface="Arial" panose="020B0604020202020204" pitchFamily="34" charset="0"/>
        </a:defRPr>
      </a:lvl1pPr>
      <a:lvl2pPr marL="742950" indent="-285750" algn="l" rtl="0" eaLnBrk="0" fontAlgn="base" hangingPunct="0">
        <a:spcBef>
          <a:spcPct val="20000"/>
        </a:spcBef>
        <a:spcAft>
          <a:spcPct val="0"/>
        </a:spcAft>
        <a:buClr>
          <a:srgbClr val="990000"/>
        </a:buClr>
        <a:buSzPct val="60000"/>
        <a:buFont typeface="Wingdings" panose="05000000000000000000" pitchFamily="2" charset="2"/>
        <a:buChar char="r"/>
        <a:defRPr sz="2000">
          <a:solidFill>
            <a:srgbClr val="0000CC"/>
          </a:solidFill>
          <a:latin typeface="+mn-lt"/>
          <a:cs typeface="Arial" panose="020B0604020202020204" pitchFamily="34" charset="0"/>
        </a:defRPr>
      </a:lvl2pPr>
      <a:lvl3pPr marL="1143000" indent="-228600" algn="l" rtl="0" eaLnBrk="0" fontAlgn="base" hangingPunct="0">
        <a:spcBef>
          <a:spcPct val="20000"/>
        </a:spcBef>
        <a:spcAft>
          <a:spcPct val="0"/>
        </a:spcAft>
        <a:buClr>
          <a:srgbClr val="084887"/>
        </a:buClr>
        <a:buSzPct val="110000"/>
        <a:buFont typeface="Wingdings" panose="05000000000000000000" pitchFamily="2" charset="2"/>
        <a:buChar char="§"/>
        <a:defRPr>
          <a:solidFill>
            <a:schemeClr val="tx1"/>
          </a:solidFill>
          <a:latin typeface="+mn-lt"/>
          <a:cs typeface="Arial" panose="020B0604020202020204" pitchFamily="34" charset="0"/>
        </a:defRPr>
      </a:lvl3pPr>
      <a:lvl4pPr marL="1600200" indent="-228600" algn="l" rtl="0" eaLnBrk="0" fontAlgn="base" hangingPunct="0">
        <a:spcBef>
          <a:spcPct val="20000"/>
        </a:spcBef>
        <a:spcAft>
          <a:spcPct val="0"/>
        </a:spcAft>
        <a:buClr>
          <a:srgbClr val="990000"/>
        </a:buClr>
        <a:buSzPct val="60000"/>
        <a:buFont typeface="Wingdings" panose="05000000000000000000" pitchFamily="2" charset="2"/>
        <a:buChar char="r"/>
        <a:defRPr sz="1600">
          <a:solidFill>
            <a:schemeClr val="tx1"/>
          </a:solidFill>
          <a:latin typeface="+mn-lt"/>
          <a:cs typeface="Arial" panose="020B0604020202020204" pitchFamily="34" charset="0"/>
        </a:defRPr>
      </a:lvl4pPr>
      <a:lvl5pPr marL="2057400" indent="-228600" algn="l" rtl="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mn-lt"/>
          <a:cs typeface="Arial" panose="020B0604020202020204" pitchFamily="34" charset="0"/>
        </a:defRPr>
      </a:lvl5pPr>
      <a:lvl6pPr marL="2514600" indent="-228600" algn="l" rtl="0" eaLnBrk="0" fontAlgn="base" hangingPunct="0">
        <a:spcBef>
          <a:spcPct val="20000"/>
        </a:spcBef>
        <a:spcAft>
          <a:spcPct val="0"/>
        </a:spcAft>
        <a:buChar char="»"/>
        <a:defRPr sz="1600" b="1">
          <a:solidFill>
            <a:schemeClr val="tx1"/>
          </a:solidFill>
          <a:latin typeface="+mn-lt"/>
        </a:defRPr>
      </a:lvl6pPr>
      <a:lvl7pPr marL="2971800" indent="-228600" algn="l" rtl="0" eaLnBrk="0" fontAlgn="base" hangingPunct="0">
        <a:spcBef>
          <a:spcPct val="20000"/>
        </a:spcBef>
        <a:spcAft>
          <a:spcPct val="0"/>
        </a:spcAft>
        <a:buChar char="»"/>
        <a:defRPr sz="1600" b="1">
          <a:solidFill>
            <a:schemeClr val="tx1"/>
          </a:solidFill>
          <a:latin typeface="+mn-lt"/>
        </a:defRPr>
      </a:lvl7pPr>
      <a:lvl8pPr marL="3429000" indent="-228600" algn="l" rtl="0" eaLnBrk="0" fontAlgn="base" hangingPunct="0">
        <a:spcBef>
          <a:spcPct val="20000"/>
        </a:spcBef>
        <a:spcAft>
          <a:spcPct val="0"/>
        </a:spcAft>
        <a:buChar char="»"/>
        <a:defRPr sz="1600" b="1">
          <a:solidFill>
            <a:schemeClr val="tx1"/>
          </a:solidFill>
          <a:latin typeface="+mn-lt"/>
        </a:defRPr>
      </a:lvl8pPr>
      <a:lvl9pPr marL="3886200" indent="-228600" algn="l" rtl="0" eaLnBrk="0" fontAlgn="base" hangingPunct="0">
        <a:spcBef>
          <a:spcPct val="20000"/>
        </a:spcBef>
        <a:spcAft>
          <a:spcPct val="0"/>
        </a:spcAft>
        <a:buChar char="»"/>
        <a:defRPr sz="16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emf"/></Relationships>
</file>

<file path=ppt/slides/_rels/slide2.xml.rels><?xml version="1.0" encoding="UTF-8" standalone="yes"?>
<Relationships xmlns="http://schemas.openxmlformats.org/package/2006/relationships"><Relationship Id="rId8" Type="http://schemas.openxmlformats.org/officeDocument/2006/relationships/image" Target="../media/image11.jpg"/><Relationship Id="rId3" Type="http://schemas.openxmlformats.org/officeDocument/2006/relationships/notesSlide" Target="../notesSlides/notesSlide2.xml"/><Relationship Id="rId7" Type="http://schemas.openxmlformats.org/officeDocument/2006/relationships/image" Target="../media/image10.jpeg"/><Relationship Id="rId2" Type="http://schemas.openxmlformats.org/officeDocument/2006/relationships/slideLayout" Target="../slideLayouts/slideLayout1.xml"/><Relationship Id="rId1" Type="http://schemas.openxmlformats.org/officeDocument/2006/relationships/tags" Target="../tags/tag1.xml"/><Relationship Id="rId6" Type="http://schemas.openxmlformats.org/officeDocument/2006/relationships/image" Target="../media/image9.jpeg"/><Relationship Id="rId5" Type="http://schemas.openxmlformats.org/officeDocument/2006/relationships/image" Target="../media/image8.png"/><Relationship Id="rId4" Type="http://schemas.openxmlformats.org/officeDocument/2006/relationships/image" Target="../media/image7.jpeg"/></Relationships>
</file>

<file path=ppt/slides/_rels/slide3.xml.rels><?xml version="1.0" encoding="UTF-8" standalone="yes"?>
<Relationships xmlns="http://schemas.openxmlformats.org/package/2006/relationships"><Relationship Id="rId8" Type="http://schemas.openxmlformats.org/officeDocument/2006/relationships/image" Target="../media/image11.jpg"/><Relationship Id="rId3" Type="http://schemas.openxmlformats.org/officeDocument/2006/relationships/notesSlide" Target="../notesSlides/notesSlide3.xml"/><Relationship Id="rId7" Type="http://schemas.openxmlformats.org/officeDocument/2006/relationships/image" Target="../media/image10.jpeg"/><Relationship Id="rId2" Type="http://schemas.openxmlformats.org/officeDocument/2006/relationships/slideLayout" Target="../slideLayouts/slideLayout1.xml"/><Relationship Id="rId1" Type="http://schemas.openxmlformats.org/officeDocument/2006/relationships/tags" Target="../tags/tag2.xml"/><Relationship Id="rId6" Type="http://schemas.openxmlformats.org/officeDocument/2006/relationships/image" Target="../media/image9.jpeg"/><Relationship Id="rId5" Type="http://schemas.openxmlformats.org/officeDocument/2006/relationships/image" Target="../media/image8.png"/><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8" Type="http://schemas.openxmlformats.org/officeDocument/2006/relationships/image" Target="../media/image11.jpg"/><Relationship Id="rId3" Type="http://schemas.openxmlformats.org/officeDocument/2006/relationships/notesSlide" Target="../notesSlides/notesSlide4.xml"/><Relationship Id="rId7" Type="http://schemas.openxmlformats.org/officeDocument/2006/relationships/image" Target="../media/image10.jpeg"/><Relationship Id="rId2" Type="http://schemas.openxmlformats.org/officeDocument/2006/relationships/slideLayout" Target="../slideLayouts/slideLayout1.xml"/><Relationship Id="rId1" Type="http://schemas.openxmlformats.org/officeDocument/2006/relationships/tags" Target="../tags/tag3.xml"/><Relationship Id="rId6" Type="http://schemas.openxmlformats.org/officeDocument/2006/relationships/image" Target="../media/image9.jpeg"/><Relationship Id="rId5" Type="http://schemas.openxmlformats.org/officeDocument/2006/relationships/image" Target="../media/image8.png"/><Relationship Id="rId4" Type="http://schemas.openxmlformats.org/officeDocument/2006/relationships/image" Target="../media/image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AutoShape 2"/>
          <p:cNvSpPr>
            <a:spLocks noChangeArrowheads="1"/>
          </p:cNvSpPr>
          <p:nvPr/>
        </p:nvSpPr>
        <p:spPr bwMode="auto">
          <a:xfrm>
            <a:off x="6224588" y="1341438"/>
            <a:ext cx="2806700" cy="4894262"/>
          </a:xfrm>
          <a:prstGeom prst="roundRect">
            <a:avLst>
              <a:gd name="adj" fmla="val 2884"/>
            </a:avLst>
          </a:prstGeom>
          <a:solidFill>
            <a:srgbClr val="CCEC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endParaRPr lang="zh-CN" altLang="en-US"/>
          </a:p>
        </p:txBody>
      </p:sp>
      <p:sp>
        <p:nvSpPr>
          <p:cNvPr id="5123" name="AutoShape 3"/>
          <p:cNvSpPr>
            <a:spLocks noChangeArrowheads="1"/>
          </p:cNvSpPr>
          <p:nvPr/>
        </p:nvSpPr>
        <p:spPr bwMode="auto">
          <a:xfrm>
            <a:off x="3201988" y="1341438"/>
            <a:ext cx="2806700" cy="4894262"/>
          </a:xfrm>
          <a:prstGeom prst="roundRect">
            <a:avLst>
              <a:gd name="adj" fmla="val 3847"/>
            </a:avLst>
          </a:prstGeom>
          <a:solidFill>
            <a:srgbClr val="CCEC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endParaRPr lang="zh-CN" altLang="en-US"/>
          </a:p>
        </p:txBody>
      </p:sp>
      <p:sp>
        <p:nvSpPr>
          <p:cNvPr id="5124" name="AutoShape 4"/>
          <p:cNvSpPr>
            <a:spLocks noChangeArrowheads="1"/>
          </p:cNvSpPr>
          <p:nvPr/>
        </p:nvSpPr>
        <p:spPr bwMode="auto">
          <a:xfrm>
            <a:off x="179388" y="1341438"/>
            <a:ext cx="2806700" cy="4895850"/>
          </a:xfrm>
          <a:prstGeom prst="roundRect">
            <a:avLst>
              <a:gd name="adj" fmla="val 4356"/>
            </a:avLst>
          </a:prstGeom>
          <a:solidFill>
            <a:srgbClr val="CCEC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endParaRPr lang="zh-CN" altLang="en-US"/>
          </a:p>
        </p:txBody>
      </p:sp>
      <p:sp>
        <p:nvSpPr>
          <p:cNvPr id="5125" name="Rectangle 2"/>
          <p:cNvSpPr>
            <a:spLocks noGrp="1" noChangeArrowheads="1"/>
          </p:cNvSpPr>
          <p:nvPr>
            <p:ph type="title" idx="4294967295"/>
          </p:nvPr>
        </p:nvSpPr>
        <p:spPr/>
        <p:txBody>
          <a:bodyPr/>
          <a:lstStyle/>
          <a:p>
            <a:pPr algn="ctr"/>
            <a:r>
              <a:rPr lang="en-US" altLang="zh-CN" sz="3600" smtClean="0">
                <a:ea typeface="SimSun" panose="02010600030101010101" pitchFamily="2" charset="-122"/>
              </a:rPr>
              <a:t>Microscale Photonic Devices</a:t>
            </a:r>
          </a:p>
        </p:txBody>
      </p:sp>
      <p:sp>
        <p:nvSpPr>
          <p:cNvPr id="5126" name="Text Box 7"/>
          <p:cNvSpPr txBox="1">
            <a:spLocks noChangeArrowheads="1"/>
          </p:cNvSpPr>
          <p:nvPr/>
        </p:nvSpPr>
        <p:spPr bwMode="auto">
          <a:xfrm>
            <a:off x="896938" y="1341438"/>
            <a:ext cx="1439862"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en-US" altLang="zh-CN" sz="1800">
                <a:solidFill>
                  <a:srgbClr val="0000FF"/>
                </a:solidFill>
                <a:ea typeface="SimSun" panose="02010600030101010101" pitchFamily="2" charset="-122"/>
              </a:rPr>
              <a:t>solar cells</a:t>
            </a:r>
          </a:p>
        </p:txBody>
      </p:sp>
      <p:sp>
        <p:nvSpPr>
          <p:cNvPr id="5127" name="Rectangle 8"/>
          <p:cNvSpPr>
            <a:spLocks noChangeArrowheads="1"/>
          </p:cNvSpPr>
          <p:nvPr/>
        </p:nvSpPr>
        <p:spPr bwMode="auto">
          <a:xfrm>
            <a:off x="684213" y="3429000"/>
            <a:ext cx="1827212"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de-DE" altLang="zh-CN" sz="1400" b="0" i="1">
                <a:ea typeface="MS PGothic" panose="020B0600070205080204" pitchFamily="34" charset="-128"/>
              </a:rPr>
              <a:t>Nature Mater.</a:t>
            </a:r>
            <a:r>
              <a:rPr lang="de-DE" altLang="zh-CN" sz="1400" b="0">
                <a:ea typeface="MS PGothic" panose="020B0600070205080204" pitchFamily="34" charset="-128"/>
              </a:rPr>
              <a:t> (2014)</a:t>
            </a:r>
          </a:p>
        </p:txBody>
      </p:sp>
      <p:sp>
        <p:nvSpPr>
          <p:cNvPr id="5128" name="Rectangle 21"/>
          <p:cNvSpPr>
            <a:spLocks noChangeArrowheads="1"/>
          </p:cNvSpPr>
          <p:nvPr/>
        </p:nvSpPr>
        <p:spPr bwMode="auto">
          <a:xfrm>
            <a:off x="4064000" y="3789363"/>
            <a:ext cx="10795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1022350">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defTabSz="10223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defTabSz="102235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defTabSz="102235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defTabSz="102235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defTabSz="102235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defTabSz="102235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defTabSz="102235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defTabSz="102235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algn="ctr" eaLnBrk="1" hangingPunct="1">
              <a:lnSpc>
                <a:spcPct val="90000"/>
              </a:lnSpc>
              <a:spcBef>
                <a:spcPct val="0"/>
              </a:spcBef>
              <a:spcAft>
                <a:spcPct val="35000"/>
              </a:spcAft>
              <a:buClrTx/>
              <a:buSzTx/>
              <a:buFontTx/>
              <a:buNone/>
            </a:pPr>
            <a:r>
              <a:rPr lang="en-US" altLang="zh-CN" sz="1800">
                <a:solidFill>
                  <a:srgbClr val="0000FF"/>
                </a:solidFill>
                <a:ea typeface="SimSun" panose="02010600030101010101" pitchFamily="2" charset="-122"/>
              </a:rPr>
              <a:t>LEDs</a:t>
            </a:r>
          </a:p>
        </p:txBody>
      </p:sp>
      <p:pic>
        <p:nvPicPr>
          <p:cNvPr id="5129"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625" y="4149725"/>
            <a:ext cx="2339975" cy="1692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30" name="Rectangle 11"/>
          <p:cNvSpPr>
            <a:spLocks noChangeArrowheads="1"/>
          </p:cNvSpPr>
          <p:nvPr/>
        </p:nvSpPr>
        <p:spPr bwMode="auto">
          <a:xfrm>
            <a:off x="520700" y="5861050"/>
            <a:ext cx="203517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de-DE" altLang="zh-CN" sz="1400" b="0" i="1">
                <a:ea typeface="MS PGothic" panose="020B0600070205080204" pitchFamily="34" charset="-128"/>
              </a:rPr>
              <a:t>Adv. Opt. Mater.</a:t>
            </a:r>
            <a:r>
              <a:rPr lang="de-DE" altLang="zh-CN" sz="1400" b="0">
                <a:ea typeface="MS PGothic" panose="020B0600070205080204" pitchFamily="34" charset="-128"/>
              </a:rPr>
              <a:t> (2014)</a:t>
            </a:r>
          </a:p>
        </p:txBody>
      </p:sp>
      <p:sp>
        <p:nvSpPr>
          <p:cNvPr id="5131" name="Text Box 12"/>
          <p:cNvSpPr txBox="1">
            <a:spLocks noChangeArrowheads="1"/>
          </p:cNvSpPr>
          <p:nvPr/>
        </p:nvSpPr>
        <p:spPr bwMode="auto">
          <a:xfrm>
            <a:off x="608013" y="3783013"/>
            <a:ext cx="1871662"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en-US" altLang="zh-CN" sz="1800">
                <a:solidFill>
                  <a:srgbClr val="0000FF"/>
                </a:solidFill>
                <a:ea typeface="SimSun" panose="02010600030101010101" pitchFamily="2" charset="-122"/>
              </a:rPr>
              <a:t>photodetectors</a:t>
            </a:r>
          </a:p>
        </p:txBody>
      </p:sp>
      <p:pic>
        <p:nvPicPr>
          <p:cNvPr id="5132" name="Picture 13" descr="ToC"/>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56013" y="1708150"/>
            <a:ext cx="1920875" cy="169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3" name="Rectangle 14"/>
          <p:cNvSpPr>
            <a:spLocks noChangeArrowheads="1"/>
          </p:cNvSpPr>
          <p:nvPr/>
        </p:nvSpPr>
        <p:spPr bwMode="auto">
          <a:xfrm>
            <a:off x="3563938" y="3435350"/>
            <a:ext cx="226218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de-DE" altLang="zh-CN" sz="1400" b="0" i="1">
                <a:ea typeface="MS PGothic" panose="020B0600070205080204" pitchFamily="34" charset="-128"/>
              </a:rPr>
              <a:t>Laser Photon. Rev.</a:t>
            </a:r>
            <a:r>
              <a:rPr lang="de-DE" altLang="zh-CN" sz="1400" b="0">
                <a:ea typeface="MS PGothic" panose="020B0600070205080204" pitchFamily="34" charset="-128"/>
              </a:rPr>
              <a:t> (2015)</a:t>
            </a:r>
          </a:p>
        </p:txBody>
      </p:sp>
      <p:sp>
        <p:nvSpPr>
          <p:cNvPr id="5134" name="Text Box 15"/>
          <p:cNvSpPr txBox="1">
            <a:spLocks noChangeArrowheads="1"/>
          </p:cNvSpPr>
          <p:nvPr/>
        </p:nvSpPr>
        <p:spPr bwMode="auto">
          <a:xfrm>
            <a:off x="4137025" y="1341438"/>
            <a:ext cx="10795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en-US" altLang="zh-CN" sz="1800">
                <a:solidFill>
                  <a:srgbClr val="0000FF"/>
                </a:solidFill>
                <a:ea typeface="SimSun" panose="02010600030101010101" pitchFamily="2" charset="-122"/>
              </a:rPr>
              <a:t>lasers</a:t>
            </a:r>
          </a:p>
        </p:txBody>
      </p:sp>
      <p:pic>
        <p:nvPicPr>
          <p:cNvPr id="5135" name="Picture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31800" y="1700213"/>
            <a:ext cx="2339975" cy="1658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36" name="Text Box 17"/>
          <p:cNvSpPr txBox="1">
            <a:spLocks noChangeArrowheads="1"/>
          </p:cNvSpPr>
          <p:nvPr/>
        </p:nvSpPr>
        <p:spPr bwMode="auto">
          <a:xfrm>
            <a:off x="7305675" y="1341438"/>
            <a:ext cx="10795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en-US" altLang="zh-CN" sz="1800">
                <a:solidFill>
                  <a:srgbClr val="0000FF"/>
                </a:solidFill>
                <a:ea typeface="SimSun" panose="02010600030101010101" pitchFamily="2" charset="-122"/>
              </a:rPr>
              <a:t>fibers</a:t>
            </a:r>
          </a:p>
        </p:txBody>
      </p:sp>
      <p:sp>
        <p:nvSpPr>
          <p:cNvPr id="5137" name="Text Box 18"/>
          <p:cNvSpPr txBox="1">
            <a:spLocks noChangeArrowheads="1"/>
          </p:cNvSpPr>
          <p:nvPr/>
        </p:nvSpPr>
        <p:spPr bwMode="auto">
          <a:xfrm>
            <a:off x="6804025" y="3789363"/>
            <a:ext cx="17272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algn="ctr" eaLnBrk="1" hangingPunct="1">
              <a:spcBef>
                <a:spcPct val="0"/>
              </a:spcBef>
              <a:buClrTx/>
              <a:buSzTx/>
              <a:buFontTx/>
              <a:buNone/>
            </a:pPr>
            <a:r>
              <a:rPr lang="en-US" altLang="zh-CN" sz="1800">
                <a:solidFill>
                  <a:srgbClr val="0000FF"/>
                </a:solidFill>
                <a:ea typeface="SimSun" panose="02010600030101010101" pitchFamily="2" charset="-122"/>
              </a:rPr>
              <a:t>filters</a:t>
            </a:r>
          </a:p>
        </p:txBody>
      </p:sp>
      <p:sp>
        <p:nvSpPr>
          <p:cNvPr id="5138" name="Text Box 19"/>
          <p:cNvSpPr txBox="1">
            <a:spLocks noChangeArrowheads="1"/>
          </p:cNvSpPr>
          <p:nvPr/>
        </p:nvSpPr>
        <p:spPr bwMode="auto">
          <a:xfrm>
            <a:off x="539750" y="6234113"/>
            <a:ext cx="2160588"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en-US" altLang="zh-CN" sz="3200">
                <a:solidFill>
                  <a:srgbClr val="FF0000"/>
                </a:solidFill>
                <a:ea typeface="SimSun" panose="02010600030101010101" pitchFamily="2" charset="-122"/>
              </a:rPr>
              <a:t>receivers</a:t>
            </a:r>
          </a:p>
        </p:txBody>
      </p:sp>
      <p:sp>
        <p:nvSpPr>
          <p:cNvPr id="5139" name="Text Box 20"/>
          <p:cNvSpPr txBox="1">
            <a:spLocks noChangeArrowheads="1"/>
          </p:cNvSpPr>
          <p:nvPr/>
        </p:nvSpPr>
        <p:spPr bwMode="auto">
          <a:xfrm>
            <a:off x="3706813" y="6234113"/>
            <a:ext cx="216058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en-US" altLang="zh-CN" sz="3200">
                <a:solidFill>
                  <a:srgbClr val="FF0000"/>
                </a:solidFill>
                <a:ea typeface="SimSun" panose="02010600030101010101" pitchFamily="2" charset="-122"/>
              </a:rPr>
              <a:t>emitters</a:t>
            </a:r>
            <a:endParaRPr lang="en-US" altLang="zh-CN" sz="3200">
              <a:solidFill>
                <a:srgbClr val="FF0000"/>
              </a:solidFill>
              <a:latin typeface="Symbol" panose="05050102010706020507" pitchFamily="18" charset="2"/>
              <a:ea typeface="SimSun" panose="02010600030101010101" pitchFamily="2" charset="-122"/>
            </a:endParaRPr>
          </a:p>
        </p:txBody>
      </p:sp>
      <p:sp>
        <p:nvSpPr>
          <p:cNvPr id="5140" name="Text Box 21"/>
          <p:cNvSpPr txBox="1">
            <a:spLocks noChangeArrowheads="1"/>
          </p:cNvSpPr>
          <p:nvPr/>
        </p:nvSpPr>
        <p:spPr bwMode="auto">
          <a:xfrm>
            <a:off x="465138" y="4184650"/>
            <a:ext cx="5746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en-US" altLang="zh-CN" sz="2000">
                <a:solidFill>
                  <a:schemeClr val="bg1"/>
                </a:solidFill>
                <a:ea typeface="SimSun" panose="02010600030101010101" pitchFamily="2" charset="-122"/>
              </a:rPr>
              <a:t>UV</a:t>
            </a:r>
          </a:p>
        </p:txBody>
      </p:sp>
      <p:sp>
        <p:nvSpPr>
          <p:cNvPr id="5141" name="Text Box 22"/>
          <p:cNvSpPr txBox="1">
            <a:spLocks noChangeArrowheads="1"/>
          </p:cNvSpPr>
          <p:nvPr/>
        </p:nvSpPr>
        <p:spPr bwMode="auto">
          <a:xfrm>
            <a:off x="6300788" y="6234113"/>
            <a:ext cx="273685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algn="ctr" eaLnBrk="1" hangingPunct="1">
              <a:spcBef>
                <a:spcPct val="0"/>
              </a:spcBef>
              <a:buClrTx/>
              <a:buSzTx/>
              <a:buFontTx/>
              <a:buNone/>
            </a:pPr>
            <a:r>
              <a:rPr lang="en-US" altLang="zh-CN" sz="3200">
                <a:solidFill>
                  <a:srgbClr val="FF0000"/>
                </a:solidFill>
                <a:ea typeface="SimSun" panose="02010600030101010101" pitchFamily="2" charset="-122"/>
              </a:rPr>
              <a:t>passive</a:t>
            </a:r>
          </a:p>
        </p:txBody>
      </p:sp>
      <p:sp>
        <p:nvSpPr>
          <p:cNvPr id="5142" name="Rectangle 24"/>
          <p:cNvSpPr>
            <a:spLocks noChangeArrowheads="1"/>
          </p:cNvSpPr>
          <p:nvPr/>
        </p:nvSpPr>
        <p:spPr bwMode="auto">
          <a:xfrm>
            <a:off x="4062413" y="5876925"/>
            <a:ext cx="1230312"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de-DE" altLang="zh-CN" sz="1400" b="0" i="1">
                <a:ea typeface="MS PGothic" panose="020B0600070205080204" pitchFamily="34" charset="-128"/>
              </a:rPr>
              <a:t>PNAS</a:t>
            </a:r>
            <a:r>
              <a:rPr lang="de-DE" altLang="zh-CN" sz="1400" b="0">
                <a:ea typeface="MS PGothic" panose="020B0600070205080204" pitchFamily="34" charset="-128"/>
              </a:rPr>
              <a:t> (2021)</a:t>
            </a:r>
          </a:p>
        </p:txBody>
      </p:sp>
      <p:sp>
        <p:nvSpPr>
          <p:cNvPr id="5143" name="Rectangle 25"/>
          <p:cNvSpPr>
            <a:spLocks noChangeArrowheads="1"/>
          </p:cNvSpPr>
          <p:nvPr/>
        </p:nvSpPr>
        <p:spPr bwMode="auto">
          <a:xfrm>
            <a:off x="6659563" y="3429000"/>
            <a:ext cx="203517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de-DE" altLang="zh-CN" sz="1400" b="0" i="1">
                <a:ea typeface="MS PGothic" panose="020B0600070205080204" pitchFamily="34" charset="-128"/>
              </a:rPr>
              <a:t>Adv. Opt. Mater.</a:t>
            </a:r>
            <a:r>
              <a:rPr lang="de-DE" altLang="zh-CN" sz="1400" b="0">
                <a:ea typeface="MS PGothic" panose="020B0600070205080204" pitchFamily="34" charset="-128"/>
              </a:rPr>
              <a:t> (2018)</a:t>
            </a:r>
          </a:p>
        </p:txBody>
      </p:sp>
      <p:pic>
        <p:nvPicPr>
          <p:cNvPr id="5144" name="Picture 26" descr="slide1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59563" y="1700213"/>
            <a:ext cx="2198687" cy="1690687"/>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pic>
      <p:pic>
        <p:nvPicPr>
          <p:cNvPr id="5145" name="Picture 27"/>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661150" y="4184650"/>
            <a:ext cx="2159000" cy="1692275"/>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46" name="Rectangle 28"/>
          <p:cNvSpPr>
            <a:spLocks noChangeArrowheads="1"/>
          </p:cNvSpPr>
          <p:nvPr/>
        </p:nvSpPr>
        <p:spPr bwMode="auto">
          <a:xfrm>
            <a:off x="6659563" y="5876925"/>
            <a:ext cx="203517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eaLnBrk="1" hangingPunct="1">
              <a:spcBef>
                <a:spcPct val="0"/>
              </a:spcBef>
              <a:buClrTx/>
              <a:buSzTx/>
              <a:buFontTx/>
              <a:buNone/>
            </a:pPr>
            <a:r>
              <a:rPr lang="de-DE" altLang="zh-CN" sz="1400" b="0" i="1">
                <a:ea typeface="MS PGothic" panose="020B0600070205080204" pitchFamily="34" charset="-128"/>
              </a:rPr>
              <a:t>Adv. Opt. Mater.</a:t>
            </a:r>
            <a:r>
              <a:rPr lang="de-DE" altLang="zh-CN" sz="1400" b="0">
                <a:ea typeface="MS PGothic" panose="020B0600070205080204" pitchFamily="34" charset="-128"/>
              </a:rPr>
              <a:t> (2018)</a:t>
            </a:r>
          </a:p>
        </p:txBody>
      </p:sp>
      <p:pic>
        <p:nvPicPr>
          <p:cNvPr id="5147" name="Picture 29" descr="slide19"/>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08400" y="4186238"/>
            <a:ext cx="1871663" cy="161925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5" name="Rectangle 2"/>
          <p:cNvSpPr>
            <a:spLocks noGrp="1" noChangeArrowheads="1"/>
          </p:cNvSpPr>
          <p:nvPr>
            <p:ph type="title" idx="4294967295"/>
          </p:nvPr>
        </p:nvSpPr>
        <p:spPr/>
        <p:txBody>
          <a:bodyPr/>
          <a:lstStyle/>
          <a:p>
            <a:pPr algn="ctr"/>
            <a:r>
              <a:rPr lang="en-US" altLang="zh-CN" sz="3600" dirty="0" smtClean="0">
                <a:ea typeface="SimSun" panose="02010600030101010101" pitchFamily="2" charset="-122"/>
              </a:rPr>
              <a:t>Implantable Neural Interfaces</a:t>
            </a:r>
            <a:endParaRPr lang="en-US" altLang="zh-CN" sz="3600" dirty="0" smtClean="0">
              <a:ea typeface="SimSun" panose="02010600030101010101" pitchFamily="2" charset="-122"/>
            </a:endParaRPr>
          </a:p>
        </p:txBody>
      </p:sp>
      <p:pic>
        <p:nvPicPr>
          <p:cNvPr id="28" name="图片 27"/>
          <p:cNvPicPr>
            <a:picLocks noChangeAspect="1"/>
          </p:cNvPicPr>
          <p:nvPr/>
        </p:nvPicPr>
        <p:blipFill rotWithShape="1">
          <a:blip r:embed="rId4" cstate="print">
            <a:extLst>
              <a:ext uri="{28A0092B-C50C-407E-A947-70E740481C1C}">
                <a14:useLocalDpi xmlns:a14="http://schemas.microsoft.com/office/drawing/2010/main" val="0"/>
              </a:ext>
            </a:extLst>
          </a:blip>
          <a:srcRect/>
          <a:stretch/>
        </p:blipFill>
        <p:spPr>
          <a:xfrm>
            <a:off x="5909024" y="1417638"/>
            <a:ext cx="2839440" cy="2839437"/>
          </a:xfrm>
          <a:prstGeom prst="roundRect">
            <a:avLst>
              <a:gd name="adj" fmla="val 4944"/>
            </a:avLst>
          </a:prstGeom>
          <a:ln w="12700">
            <a:solidFill>
              <a:schemeClr val="tx1"/>
            </a:solidFill>
          </a:ln>
        </p:spPr>
      </p:pic>
      <p:grpSp>
        <p:nvGrpSpPr>
          <p:cNvPr id="29" name="组合 28"/>
          <p:cNvGrpSpPr/>
          <p:nvPr/>
        </p:nvGrpSpPr>
        <p:grpSpPr>
          <a:xfrm>
            <a:off x="539872" y="1417639"/>
            <a:ext cx="2880000" cy="2880000"/>
            <a:chOff x="644598" y="1434776"/>
            <a:chExt cx="3578400" cy="3578400"/>
          </a:xfrm>
        </p:grpSpPr>
        <p:sp>
          <p:nvSpPr>
            <p:cNvPr id="30" name="AutoShape 6"/>
            <p:cNvSpPr>
              <a:spLocks noChangeAspect="1" noChangeArrowheads="1"/>
            </p:cNvSpPr>
            <p:nvPr/>
          </p:nvSpPr>
          <p:spPr bwMode="auto">
            <a:xfrm>
              <a:off x="644598" y="1434776"/>
              <a:ext cx="3578400" cy="3578400"/>
            </a:xfrm>
            <a:prstGeom prst="roundRect">
              <a:avLst>
                <a:gd name="adj" fmla="val 4356"/>
              </a:avLst>
            </a:prstGeom>
            <a:solidFill>
              <a:srgbClr val="CCEC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a:spcBef>
                  <a:spcPct val="0"/>
                </a:spcBef>
                <a:buClrTx/>
                <a:buSzTx/>
                <a:buFontTx/>
                <a:buNone/>
              </a:pPr>
              <a:endParaRPr lang="zh-CN" altLang="en-US" sz="2000">
                <a:solidFill>
                  <a:srgbClr val="0000CC"/>
                </a:solidFill>
                <a:ea typeface="微软雅黑" panose="020B0503020204020204" pitchFamily="34" charset="-122"/>
              </a:endParaRPr>
            </a:p>
          </p:txBody>
        </p:sp>
        <p:pic>
          <p:nvPicPr>
            <p:cNvPr id="31" name="图片 215"/>
            <p:cNvPicPr>
              <a:picLocks/>
            </p:cNvPicPr>
            <p:nvPr>
              <p:custDataLst>
                <p:tags r:id="rId1"/>
              </p:custDataLst>
            </p:nvPr>
          </p:nvPicPr>
          <p:blipFill rotWithShape="1">
            <a:blip r:embed="rId5">
              <a:extLst>
                <a:ext uri="{28A0092B-C50C-407E-A947-70E740481C1C}">
                  <a14:useLocalDpi xmlns:a14="http://schemas.microsoft.com/office/drawing/2010/main" val="0"/>
                </a:ext>
              </a:extLst>
            </a:blip>
            <a:srcRect l="10905"/>
            <a:stretch/>
          </p:blipFill>
          <p:spPr>
            <a:xfrm>
              <a:off x="2300587" y="1568098"/>
              <a:ext cx="1813055" cy="1312080"/>
            </a:xfrm>
            <a:prstGeom prst="rect">
              <a:avLst/>
            </a:prstGeom>
            <a:noFill/>
            <a:ln w="19050">
              <a:noFill/>
              <a:miter lim="800000"/>
            </a:ln>
          </p:spPr>
        </p:pic>
        <p:pic>
          <p:nvPicPr>
            <p:cNvPr id="32" name="Picture 69" descr="long flexible fiber (2)"/>
            <p:cNvPicPr>
              <a:picLocks noChangeArrowheads="1"/>
            </p:cNvPicPr>
            <p:nvPr/>
          </p:nvPicPr>
          <p:blipFill rotWithShape="1">
            <a:blip r:embed="rId6" cstate="print">
              <a:extLst>
                <a:ext uri="{28A0092B-C50C-407E-A947-70E740481C1C}">
                  <a14:useLocalDpi xmlns:a14="http://schemas.microsoft.com/office/drawing/2010/main" val="0"/>
                </a:ext>
              </a:extLst>
            </a:blip>
            <a:srcRect/>
            <a:stretch/>
          </p:blipFill>
          <p:spPr bwMode="auto">
            <a:xfrm>
              <a:off x="2732451" y="3057091"/>
              <a:ext cx="1360945" cy="1812877"/>
            </a:xfrm>
            <a:prstGeom prst="rect">
              <a:avLst/>
            </a:prstGeom>
            <a:noFill/>
            <a:ln w="12700">
              <a:noFill/>
              <a:miter lim="800000"/>
              <a:headEnd/>
              <a:tailEnd/>
            </a:ln>
            <a:extLst>
              <a:ext uri="{909E8E84-426E-40DD-AFC4-6F175D3DCCD1}">
                <a14:hiddenFill xmlns:a14="http://schemas.microsoft.com/office/drawing/2010/main">
                  <a:solidFill>
                    <a:srgbClr val="FFFFFF"/>
                  </a:solidFill>
                </a14:hiddenFill>
              </a:ext>
            </a:extLst>
          </p:spPr>
        </p:pic>
        <p:pic>
          <p:nvPicPr>
            <p:cNvPr id="33" name="图片 32">
              <a:extLst>
                <a:ext uri="{FF2B5EF4-FFF2-40B4-BE49-F238E27FC236}">
                  <a16:creationId xmlns:a16="http://schemas.microsoft.com/office/drawing/2014/main" id="{B2187BE8-FFEF-F374-0B99-9814B51C1545}"/>
                </a:ext>
              </a:extLst>
            </p:cNvPr>
            <p:cNvPicPr>
              <a:picLocks noChangeAspect="1"/>
            </p:cNvPicPr>
            <p:nvPr/>
          </p:nvPicPr>
          <p:blipFill rotWithShape="1">
            <a:blip r:embed="rId7" cstate="print">
              <a:extLst>
                <a:ext uri="{28A0092B-C50C-407E-A947-70E740481C1C}">
                  <a14:useLocalDpi xmlns:a14="http://schemas.microsoft.com/office/drawing/2010/main"/>
                </a:ext>
              </a:extLst>
            </a:blip>
            <a:srcRect/>
            <a:stretch/>
          </p:blipFill>
          <p:spPr>
            <a:xfrm>
              <a:off x="790262" y="3517623"/>
              <a:ext cx="1695400" cy="1352342"/>
            </a:xfrm>
            <a:prstGeom prst="rect">
              <a:avLst/>
            </a:prstGeom>
          </p:spPr>
        </p:pic>
        <p:pic>
          <p:nvPicPr>
            <p:cNvPr id="34" name="图片 3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8791" y="1560012"/>
              <a:ext cx="1368402" cy="1814400"/>
            </a:xfrm>
            <a:prstGeom prst="rect">
              <a:avLst/>
            </a:prstGeom>
          </p:spPr>
        </p:pic>
      </p:grpSp>
      <p:sp>
        <p:nvSpPr>
          <p:cNvPr id="35" name="文本框 34"/>
          <p:cNvSpPr txBox="1"/>
          <p:nvPr/>
        </p:nvSpPr>
        <p:spPr>
          <a:xfrm>
            <a:off x="251520" y="4365104"/>
            <a:ext cx="3387466" cy="707886"/>
          </a:xfrm>
          <a:prstGeom prst="rect">
            <a:avLst/>
          </a:prstGeom>
          <a:noFill/>
        </p:spPr>
        <p:txBody>
          <a:bodyPr wrap="non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Microscale Optoelectronic</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Materials and Devices</a:t>
            </a:r>
            <a:endParaRPr kumimoji="0" lang="zh-CN" altLang="en-US" sz="2000" b="1" i="0" u="none" strike="noStrike" kern="1200" cap="none" spc="0" normalizeH="0" baseline="0" noProof="0" dirty="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endParaRPr>
          </a:p>
        </p:txBody>
      </p:sp>
      <p:sp>
        <p:nvSpPr>
          <p:cNvPr id="36" name="文本框 35"/>
          <p:cNvSpPr txBox="1"/>
          <p:nvPr/>
        </p:nvSpPr>
        <p:spPr>
          <a:xfrm>
            <a:off x="6300192" y="4437112"/>
            <a:ext cx="2108269" cy="400110"/>
          </a:xfrm>
          <a:prstGeom prst="rect">
            <a:avLst/>
          </a:prstGeom>
          <a:noFill/>
        </p:spPr>
        <p:txBody>
          <a:bodyPr wrap="non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Neural Systems</a:t>
            </a:r>
            <a:endParaRPr kumimoji="0" lang="zh-CN" altLang="en-US" sz="2000" b="1" i="0" u="none" strike="noStrike" kern="1200" cap="none" spc="0" normalizeH="0" baseline="0" noProof="0" dirty="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endParaRPr>
          </a:p>
        </p:txBody>
      </p:sp>
      <p:sp>
        <p:nvSpPr>
          <p:cNvPr id="37" name="文本框 36"/>
          <p:cNvSpPr txBox="1"/>
          <p:nvPr/>
        </p:nvSpPr>
        <p:spPr>
          <a:xfrm>
            <a:off x="3661821" y="1676882"/>
            <a:ext cx="2101857" cy="523220"/>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800" b="1" i="0" u="none" strike="noStrike" kern="1200" cap="none" spc="0" normalizeH="0" baseline="0" noProof="0" dirty="0" smtClean="0">
                <a:ln>
                  <a:noFill/>
                </a:ln>
                <a:solidFill>
                  <a:srgbClr val="FF0000"/>
                </a:solidFill>
                <a:effectLst/>
                <a:uLnTx/>
                <a:uFillTx/>
                <a:latin typeface="Arial" panose="020B0604020202020204" pitchFamily="34" charset="0"/>
                <a:ea typeface="黑体" panose="02010609060101010101" pitchFamily="49" charset="-122"/>
                <a:cs typeface="Arial" panose="020B0604020202020204" pitchFamily="34" charset="0"/>
              </a:rPr>
              <a:t>Modulation</a:t>
            </a:r>
            <a:endParaRPr kumimoji="0" lang="zh-CN" altLang="en-US" sz="2800" b="1" i="0" u="none" strike="noStrike" kern="1200" cap="none" spc="0" normalizeH="0" baseline="0" noProof="0" dirty="0">
              <a:ln>
                <a:noFill/>
              </a:ln>
              <a:solidFill>
                <a:srgbClr val="FF0000"/>
              </a:solidFill>
              <a:effectLst/>
              <a:uLnTx/>
              <a:uFillTx/>
              <a:latin typeface="Arial" panose="020B0604020202020204" pitchFamily="34" charset="0"/>
              <a:ea typeface="黑体" panose="02010609060101010101" pitchFamily="49" charset="-122"/>
              <a:cs typeface="Arial" panose="020B0604020202020204" pitchFamily="34" charset="0"/>
            </a:endParaRPr>
          </a:p>
        </p:txBody>
      </p:sp>
      <p:grpSp>
        <p:nvGrpSpPr>
          <p:cNvPr id="2" name="组合 1"/>
          <p:cNvGrpSpPr/>
          <p:nvPr/>
        </p:nvGrpSpPr>
        <p:grpSpPr>
          <a:xfrm>
            <a:off x="3796631" y="2204864"/>
            <a:ext cx="1758455" cy="1247989"/>
            <a:chOff x="3565944" y="2096306"/>
            <a:chExt cx="2386716" cy="1607621"/>
          </a:xfrm>
        </p:grpSpPr>
        <p:sp>
          <p:nvSpPr>
            <p:cNvPr id="38" name="右箭头 37"/>
            <p:cNvSpPr/>
            <p:nvPr/>
          </p:nvSpPr>
          <p:spPr bwMode="auto">
            <a:xfrm>
              <a:off x="3565944" y="2096306"/>
              <a:ext cx="2386716" cy="596612"/>
            </a:xfrm>
            <a:prstGeom prst="rightArrow">
              <a:avLst>
                <a:gd name="adj1" fmla="val 45537"/>
                <a:gd name="adj2" fmla="val 87936"/>
              </a:avLst>
            </a:prstGeom>
            <a:solidFill>
              <a:srgbClr val="00B050"/>
            </a:solidFill>
            <a:ln w="9525" cap="flat" cmpd="sng" algn="ctr">
              <a:noFill/>
              <a:prstDash val="solid"/>
              <a:round/>
              <a:headEnd type="none" w="med" len="med"/>
              <a:tailEnd type="none" w="med" len="med"/>
            </a:ln>
            <a:effectLst>
              <a:outerShdw blurRad="50800" dist="38100" dir="2700000" algn="tl" rotWithShape="0">
                <a:prstClr val="black">
                  <a:alpha val="40000"/>
                </a:prstClr>
              </a:outerShdw>
            </a:effectLst>
            <a:scene3d>
              <a:camera prst="orthographicFront">
                <a:rot lat="0" lon="0" rev="0"/>
              </a:camera>
              <a:lightRig rig="contrasting" dir="t">
                <a:rot lat="0" lon="0" rev="7800000"/>
              </a:lightRig>
            </a:scene3d>
            <a:sp3d>
              <a:bevelT w="139700" h="139700"/>
            </a:sp3d>
            <a:extLst/>
          </p:spPr>
          <p:txBody>
            <a:bodyPr vert="horz" wrap="square" lIns="91440" tIns="45720" rIns="91440" bIns="45720" numCol="1" rtlCol="0" anchor="t" anchorCtr="0" compatLnSpc="1">
              <a:prstTxWarp prst="textNoShape">
                <a:avLst/>
              </a:prstTxWarp>
            </a:bodyPr>
            <a:lstStyle/>
            <a:p>
              <a:pPr marL="0" marR="0" lvl="0" indent="0" algn="l" defTabSz="820738"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w="22225">
                  <a:solidFill>
                    <a:srgbClr val="333399"/>
                  </a:solidFill>
                  <a:prstDash val="solid"/>
                </a:ln>
                <a:solidFill>
                  <a:srgbClr val="333399">
                    <a:lumMod val="40000"/>
                    <a:lumOff val="60000"/>
                  </a:srgbClr>
                </a:solidFill>
                <a:effectLst/>
                <a:uLnTx/>
                <a:uFillTx/>
                <a:latin typeface="Arial" charset="0"/>
                <a:ea typeface="黑体" panose="02010609060101010101" pitchFamily="49" charset="-122"/>
                <a:cs typeface="Arial" charset="0"/>
              </a:endParaRPr>
            </a:p>
          </p:txBody>
        </p:sp>
        <p:sp>
          <p:nvSpPr>
            <p:cNvPr id="39" name="右箭头 38"/>
            <p:cNvSpPr/>
            <p:nvPr/>
          </p:nvSpPr>
          <p:spPr bwMode="auto">
            <a:xfrm flipH="1">
              <a:off x="3565944" y="3107315"/>
              <a:ext cx="2386450" cy="596612"/>
            </a:xfrm>
            <a:prstGeom prst="rightArrow">
              <a:avLst>
                <a:gd name="adj1" fmla="val 45537"/>
                <a:gd name="adj2" fmla="val 87936"/>
              </a:avLst>
            </a:prstGeom>
            <a:solidFill>
              <a:srgbClr val="00B050"/>
            </a:solidFill>
            <a:ln w="9525" cap="flat" cmpd="sng" algn="ctr">
              <a:noFill/>
              <a:prstDash val="solid"/>
              <a:round/>
              <a:headEnd type="none" w="med" len="med"/>
              <a:tailEnd type="none" w="med" len="med"/>
            </a:ln>
            <a:effectLst>
              <a:outerShdw blurRad="50800" dist="38100" dir="2700000" algn="tl" rotWithShape="0">
                <a:prstClr val="black">
                  <a:alpha val="40000"/>
                </a:prstClr>
              </a:outerShdw>
            </a:effectLst>
            <a:scene3d>
              <a:camera prst="orthographicFront">
                <a:rot lat="0" lon="0" rev="0"/>
              </a:camera>
              <a:lightRig rig="contrasting" dir="t">
                <a:rot lat="0" lon="0" rev="7800000"/>
              </a:lightRig>
            </a:scene3d>
            <a:sp3d>
              <a:bevelT w="139700" h="139700"/>
            </a:sp3d>
            <a:extLst/>
          </p:spPr>
          <p:txBody>
            <a:bodyPr vert="horz" wrap="square" lIns="91440" tIns="45720" rIns="91440" bIns="45720" numCol="1" rtlCol="0" anchor="t" anchorCtr="0" compatLnSpc="1">
              <a:prstTxWarp prst="textNoShape">
                <a:avLst/>
              </a:prstTxWarp>
            </a:bodyPr>
            <a:lstStyle/>
            <a:p>
              <a:pPr marL="0" marR="0" lvl="0" indent="0" algn="l" defTabSz="820738"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w="22225">
                  <a:solidFill>
                    <a:srgbClr val="333399"/>
                  </a:solidFill>
                  <a:prstDash val="solid"/>
                </a:ln>
                <a:solidFill>
                  <a:srgbClr val="333399">
                    <a:lumMod val="40000"/>
                    <a:lumOff val="60000"/>
                  </a:srgbClr>
                </a:solidFill>
                <a:effectLst/>
                <a:uLnTx/>
                <a:uFillTx/>
                <a:latin typeface="Arial" charset="0"/>
                <a:ea typeface="黑体" panose="02010609060101010101" pitchFamily="49" charset="-122"/>
                <a:cs typeface="Arial" charset="0"/>
              </a:endParaRPr>
            </a:p>
          </p:txBody>
        </p:sp>
      </p:grpSp>
      <p:sp>
        <p:nvSpPr>
          <p:cNvPr id="40" name="文本框 39"/>
          <p:cNvSpPr txBox="1"/>
          <p:nvPr/>
        </p:nvSpPr>
        <p:spPr>
          <a:xfrm>
            <a:off x="3938424" y="3452853"/>
            <a:ext cx="1582484" cy="523220"/>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800" b="1" i="0" u="none" strike="noStrike" kern="1200" cap="none" spc="0" normalizeH="0" baseline="0" noProof="0" dirty="0" smtClean="0">
                <a:ln>
                  <a:noFill/>
                </a:ln>
                <a:solidFill>
                  <a:srgbClr val="FF0000"/>
                </a:solidFill>
                <a:effectLst/>
                <a:uLnTx/>
                <a:uFillTx/>
                <a:latin typeface="Arial" panose="020B0604020202020204" pitchFamily="34" charset="0"/>
                <a:ea typeface="黑体" panose="02010609060101010101" pitchFamily="49" charset="-122"/>
                <a:cs typeface="Arial" panose="020B0604020202020204" pitchFamily="34" charset="0"/>
              </a:rPr>
              <a:t>Sensing</a:t>
            </a:r>
            <a:endParaRPr kumimoji="0" lang="zh-CN" altLang="en-US" sz="2800" b="1" i="0" u="none" strike="noStrike" kern="1200" cap="none" spc="0" normalizeH="0" baseline="0" noProof="0" dirty="0">
              <a:ln>
                <a:noFill/>
              </a:ln>
              <a:solidFill>
                <a:srgbClr val="FF0000"/>
              </a:solidFill>
              <a:effectLst/>
              <a:uLnTx/>
              <a:uFillTx/>
              <a:latin typeface="Arial" panose="020B0604020202020204" pitchFamily="34" charset="0"/>
              <a:ea typeface="黑体" panose="02010609060101010101" pitchFamily="49" charset="-122"/>
              <a:cs typeface="Arial" panose="020B0604020202020204" pitchFamily="34" charset="0"/>
            </a:endParaRPr>
          </a:p>
        </p:txBody>
      </p:sp>
    </p:spTree>
    <p:extLst>
      <p:ext uri="{BB962C8B-B14F-4D97-AF65-F5344CB8AC3E}">
        <p14:creationId xmlns:p14="http://schemas.microsoft.com/office/powerpoint/2010/main" val="389363312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5" name="Rectangle 2"/>
          <p:cNvSpPr>
            <a:spLocks noGrp="1" noChangeArrowheads="1"/>
          </p:cNvSpPr>
          <p:nvPr>
            <p:ph type="title" idx="4294967295"/>
          </p:nvPr>
        </p:nvSpPr>
        <p:spPr/>
        <p:txBody>
          <a:bodyPr/>
          <a:lstStyle/>
          <a:p>
            <a:pPr algn="ctr"/>
            <a:r>
              <a:rPr lang="en-US" altLang="zh-CN" sz="3600" dirty="0" smtClean="0">
                <a:ea typeface="SimSun" panose="02010600030101010101" pitchFamily="2" charset="-122"/>
              </a:rPr>
              <a:t>Implantable Neural Interfaces</a:t>
            </a:r>
            <a:endParaRPr lang="en-US" altLang="zh-CN" sz="3600" dirty="0" smtClean="0">
              <a:ea typeface="SimSun" panose="02010600030101010101" pitchFamily="2" charset="-122"/>
            </a:endParaRPr>
          </a:p>
        </p:txBody>
      </p:sp>
      <p:pic>
        <p:nvPicPr>
          <p:cNvPr id="28" name="图片 27"/>
          <p:cNvPicPr>
            <a:picLocks noChangeAspect="1"/>
          </p:cNvPicPr>
          <p:nvPr/>
        </p:nvPicPr>
        <p:blipFill rotWithShape="1">
          <a:blip r:embed="rId4" cstate="print">
            <a:extLst>
              <a:ext uri="{28A0092B-C50C-407E-A947-70E740481C1C}">
                <a14:useLocalDpi xmlns:a14="http://schemas.microsoft.com/office/drawing/2010/main" val="0"/>
              </a:ext>
            </a:extLst>
          </a:blip>
          <a:srcRect/>
          <a:stretch/>
        </p:blipFill>
        <p:spPr>
          <a:xfrm>
            <a:off x="5909024" y="1417638"/>
            <a:ext cx="2839440" cy="2839437"/>
          </a:xfrm>
          <a:prstGeom prst="roundRect">
            <a:avLst>
              <a:gd name="adj" fmla="val 4944"/>
            </a:avLst>
          </a:prstGeom>
          <a:ln w="12700">
            <a:solidFill>
              <a:schemeClr val="tx1"/>
            </a:solidFill>
          </a:ln>
        </p:spPr>
      </p:pic>
      <p:grpSp>
        <p:nvGrpSpPr>
          <p:cNvPr id="29" name="组合 28"/>
          <p:cNvGrpSpPr/>
          <p:nvPr/>
        </p:nvGrpSpPr>
        <p:grpSpPr>
          <a:xfrm>
            <a:off x="539872" y="1417639"/>
            <a:ext cx="2880000" cy="2880000"/>
            <a:chOff x="644598" y="1434776"/>
            <a:chExt cx="3578400" cy="3578400"/>
          </a:xfrm>
        </p:grpSpPr>
        <p:sp>
          <p:nvSpPr>
            <p:cNvPr id="30" name="AutoShape 6"/>
            <p:cNvSpPr>
              <a:spLocks noChangeAspect="1" noChangeArrowheads="1"/>
            </p:cNvSpPr>
            <p:nvPr/>
          </p:nvSpPr>
          <p:spPr bwMode="auto">
            <a:xfrm>
              <a:off x="644598" y="1434776"/>
              <a:ext cx="3578400" cy="3578400"/>
            </a:xfrm>
            <a:prstGeom prst="roundRect">
              <a:avLst>
                <a:gd name="adj" fmla="val 4356"/>
              </a:avLst>
            </a:prstGeom>
            <a:solidFill>
              <a:srgbClr val="CCEC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a:spcBef>
                  <a:spcPct val="0"/>
                </a:spcBef>
                <a:buClrTx/>
                <a:buSzTx/>
                <a:buFontTx/>
                <a:buNone/>
              </a:pPr>
              <a:endParaRPr lang="zh-CN" altLang="en-US" sz="2000">
                <a:solidFill>
                  <a:srgbClr val="0000CC"/>
                </a:solidFill>
                <a:ea typeface="微软雅黑" panose="020B0503020204020204" pitchFamily="34" charset="-122"/>
              </a:endParaRPr>
            </a:p>
          </p:txBody>
        </p:sp>
        <p:pic>
          <p:nvPicPr>
            <p:cNvPr id="31" name="图片 215"/>
            <p:cNvPicPr>
              <a:picLocks/>
            </p:cNvPicPr>
            <p:nvPr>
              <p:custDataLst>
                <p:tags r:id="rId1"/>
              </p:custDataLst>
            </p:nvPr>
          </p:nvPicPr>
          <p:blipFill rotWithShape="1">
            <a:blip r:embed="rId5">
              <a:extLst>
                <a:ext uri="{28A0092B-C50C-407E-A947-70E740481C1C}">
                  <a14:useLocalDpi xmlns:a14="http://schemas.microsoft.com/office/drawing/2010/main" val="0"/>
                </a:ext>
              </a:extLst>
            </a:blip>
            <a:srcRect l="10905"/>
            <a:stretch/>
          </p:blipFill>
          <p:spPr>
            <a:xfrm>
              <a:off x="2300587" y="1568098"/>
              <a:ext cx="1813055" cy="1312080"/>
            </a:xfrm>
            <a:prstGeom prst="rect">
              <a:avLst/>
            </a:prstGeom>
            <a:noFill/>
            <a:ln w="19050">
              <a:noFill/>
              <a:miter lim="800000"/>
            </a:ln>
          </p:spPr>
        </p:pic>
        <p:pic>
          <p:nvPicPr>
            <p:cNvPr id="32" name="Picture 69" descr="long flexible fiber (2)"/>
            <p:cNvPicPr>
              <a:picLocks noChangeArrowheads="1"/>
            </p:cNvPicPr>
            <p:nvPr/>
          </p:nvPicPr>
          <p:blipFill rotWithShape="1">
            <a:blip r:embed="rId6" cstate="print">
              <a:extLst>
                <a:ext uri="{28A0092B-C50C-407E-A947-70E740481C1C}">
                  <a14:useLocalDpi xmlns:a14="http://schemas.microsoft.com/office/drawing/2010/main" val="0"/>
                </a:ext>
              </a:extLst>
            </a:blip>
            <a:srcRect/>
            <a:stretch/>
          </p:blipFill>
          <p:spPr bwMode="auto">
            <a:xfrm>
              <a:off x="2732451" y="3057091"/>
              <a:ext cx="1360945" cy="1812877"/>
            </a:xfrm>
            <a:prstGeom prst="rect">
              <a:avLst/>
            </a:prstGeom>
            <a:noFill/>
            <a:ln w="12700">
              <a:noFill/>
              <a:miter lim="800000"/>
              <a:headEnd/>
              <a:tailEnd/>
            </a:ln>
            <a:extLst>
              <a:ext uri="{909E8E84-426E-40DD-AFC4-6F175D3DCCD1}">
                <a14:hiddenFill xmlns:a14="http://schemas.microsoft.com/office/drawing/2010/main">
                  <a:solidFill>
                    <a:srgbClr val="FFFFFF"/>
                  </a:solidFill>
                </a14:hiddenFill>
              </a:ext>
            </a:extLst>
          </p:spPr>
        </p:pic>
        <p:pic>
          <p:nvPicPr>
            <p:cNvPr id="33" name="图片 32">
              <a:extLst>
                <a:ext uri="{FF2B5EF4-FFF2-40B4-BE49-F238E27FC236}">
                  <a16:creationId xmlns:a16="http://schemas.microsoft.com/office/drawing/2014/main" id="{B2187BE8-FFEF-F374-0B99-9814B51C1545}"/>
                </a:ext>
              </a:extLst>
            </p:cNvPr>
            <p:cNvPicPr>
              <a:picLocks noChangeAspect="1"/>
            </p:cNvPicPr>
            <p:nvPr/>
          </p:nvPicPr>
          <p:blipFill rotWithShape="1">
            <a:blip r:embed="rId7" cstate="print">
              <a:extLst>
                <a:ext uri="{28A0092B-C50C-407E-A947-70E740481C1C}">
                  <a14:useLocalDpi xmlns:a14="http://schemas.microsoft.com/office/drawing/2010/main"/>
                </a:ext>
              </a:extLst>
            </a:blip>
            <a:srcRect/>
            <a:stretch/>
          </p:blipFill>
          <p:spPr>
            <a:xfrm>
              <a:off x="790262" y="3517623"/>
              <a:ext cx="1695400" cy="1352342"/>
            </a:xfrm>
            <a:prstGeom prst="rect">
              <a:avLst/>
            </a:prstGeom>
          </p:spPr>
        </p:pic>
        <p:pic>
          <p:nvPicPr>
            <p:cNvPr id="34" name="图片 3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8791" y="1560012"/>
              <a:ext cx="1368402" cy="1814400"/>
            </a:xfrm>
            <a:prstGeom prst="rect">
              <a:avLst/>
            </a:prstGeom>
          </p:spPr>
        </p:pic>
      </p:grpSp>
      <p:sp>
        <p:nvSpPr>
          <p:cNvPr id="37" name="文本框 36"/>
          <p:cNvSpPr txBox="1"/>
          <p:nvPr/>
        </p:nvSpPr>
        <p:spPr>
          <a:xfrm>
            <a:off x="3661821" y="1676882"/>
            <a:ext cx="2101857" cy="523220"/>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800" b="1" i="0" u="none" strike="noStrike" kern="1200" cap="none" spc="0" normalizeH="0" baseline="0" noProof="0" dirty="0" smtClean="0">
                <a:ln>
                  <a:noFill/>
                </a:ln>
                <a:solidFill>
                  <a:srgbClr val="FF0000"/>
                </a:solidFill>
                <a:effectLst/>
                <a:uLnTx/>
                <a:uFillTx/>
                <a:latin typeface="Arial" panose="020B0604020202020204" pitchFamily="34" charset="0"/>
                <a:ea typeface="黑体" panose="02010609060101010101" pitchFamily="49" charset="-122"/>
                <a:cs typeface="Arial" panose="020B0604020202020204" pitchFamily="34" charset="0"/>
              </a:rPr>
              <a:t>Modulation</a:t>
            </a:r>
            <a:endParaRPr kumimoji="0" lang="zh-CN" altLang="en-US" sz="2800" b="1" i="0" u="none" strike="noStrike" kern="1200" cap="none" spc="0" normalizeH="0" baseline="0" noProof="0" dirty="0">
              <a:ln>
                <a:noFill/>
              </a:ln>
              <a:solidFill>
                <a:srgbClr val="FF0000"/>
              </a:solidFill>
              <a:effectLst/>
              <a:uLnTx/>
              <a:uFillTx/>
              <a:latin typeface="Arial" panose="020B0604020202020204" pitchFamily="34" charset="0"/>
              <a:ea typeface="黑体" panose="02010609060101010101" pitchFamily="49" charset="-122"/>
              <a:cs typeface="Arial" panose="020B0604020202020204" pitchFamily="34" charset="0"/>
            </a:endParaRPr>
          </a:p>
        </p:txBody>
      </p:sp>
      <p:sp>
        <p:nvSpPr>
          <p:cNvPr id="38" name="右箭头 37"/>
          <p:cNvSpPr/>
          <p:nvPr/>
        </p:nvSpPr>
        <p:spPr bwMode="auto">
          <a:xfrm>
            <a:off x="3796631" y="2204863"/>
            <a:ext cx="1758455" cy="463147"/>
          </a:xfrm>
          <a:prstGeom prst="rightArrow">
            <a:avLst>
              <a:gd name="adj1" fmla="val 45537"/>
              <a:gd name="adj2" fmla="val 87936"/>
            </a:avLst>
          </a:prstGeom>
          <a:solidFill>
            <a:srgbClr val="00B050"/>
          </a:solidFill>
          <a:ln w="9525" cap="flat" cmpd="sng" algn="ctr">
            <a:noFill/>
            <a:prstDash val="solid"/>
            <a:round/>
            <a:headEnd type="none" w="med" len="med"/>
            <a:tailEnd type="none" w="med" len="med"/>
          </a:ln>
          <a:effectLst>
            <a:outerShdw blurRad="50800" dist="38100" dir="2700000" algn="tl" rotWithShape="0">
              <a:prstClr val="black">
                <a:alpha val="40000"/>
              </a:prstClr>
            </a:outerShdw>
          </a:effectLst>
          <a:scene3d>
            <a:camera prst="orthographicFront">
              <a:rot lat="0" lon="0" rev="0"/>
            </a:camera>
            <a:lightRig rig="contrasting" dir="t">
              <a:rot lat="0" lon="0" rev="7800000"/>
            </a:lightRig>
          </a:scene3d>
          <a:sp3d>
            <a:bevelT w="139700" h="139700"/>
          </a:sp3d>
          <a:extLst/>
        </p:spPr>
        <p:txBody>
          <a:bodyPr vert="horz" wrap="square" lIns="91440" tIns="45720" rIns="91440" bIns="45720" numCol="1" rtlCol="0" anchor="t" anchorCtr="0" compatLnSpc="1">
            <a:prstTxWarp prst="textNoShape">
              <a:avLst/>
            </a:prstTxWarp>
          </a:bodyPr>
          <a:lstStyle/>
          <a:p>
            <a:pPr marL="0" marR="0" lvl="0" indent="0" algn="l" defTabSz="820738"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w="22225">
                <a:solidFill>
                  <a:srgbClr val="333399"/>
                </a:solidFill>
                <a:prstDash val="solid"/>
              </a:ln>
              <a:solidFill>
                <a:srgbClr val="333399">
                  <a:lumMod val="40000"/>
                  <a:lumOff val="60000"/>
                </a:srgbClr>
              </a:solidFill>
              <a:effectLst/>
              <a:uLnTx/>
              <a:uFillTx/>
              <a:latin typeface="Arial" charset="0"/>
              <a:ea typeface="黑体" panose="02010609060101010101" pitchFamily="49" charset="-122"/>
              <a:cs typeface="Arial" charset="0"/>
            </a:endParaRPr>
          </a:p>
        </p:txBody>
      </p:sp>
      <p:sp>
        <p:nvSpPr>
          <p:cNvPr id="17" name="Text Box 26"/>
          <p:cNvSpPr txBox="1">
            <a:spLocks noChangeArrowheads="1"/>
          </p:cNvSpPr>
          <p:nvPr/>
        </p:nvSpPr>
        <p:spPr bwMode="auto">
          <a:xfrm>
            <a:off x="241593" y="4431431"/>
            <a:ext cx="5996572"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Optogenetic stimulation</a:t>
            </a:r>
          </a:p>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endParaRPr>
          </a:p>
          <a:p>
            <a:pPr marL="0" marR="0" lvl="0" indent="0" algn="l" defTabSz="914400" rtl="0" eaLnBrk="1" fontAlgn="base" latinLnBrk="0" hangingPunct="1">
              <a:lnSpc>
                <a:spcPct val="100000"/>
              </a:lnSpc>
              <a:spcBef>
                <a:spcPct val="0"/>
              </a:spcBef>
              <a:spcAft>
                <a:spcPct val="0"/>
              </a:spcAft>
              <a:buClrTx/>
              <a:buSzTx/>
              <a:buFontTx/>
              <a:buNone/>
              <a:tabLst/>
              <a:defRPr/>
            </a:pPr>
            <a:endParaRPr lang="en-US" altLang="zh-CN" sz="2000" dirty="0">
              <a:solidFill>
                <a:srgbClr val="0000FF"/>
              </a:solidFill>
            </a:endParaRPr>
          </a:p>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endParaRP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Optical </a:t>
            </a: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based non-genetic </a:t>
            </a: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stimulation</a:t>
            </a:r>
            <a:endPar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endParaRPr>
          </a:p>
        </p:txBody>
      </p:sp>
      <p:sp>
        <p:nvSpPr>
          <p:cNvPr id="18" name="Rectangle 17"/>
          <p:cNvSpPr>
            <a:spLocks noChangeArrowheads="1"/>
          </p:cNvSpPr>
          <p:nvPr/>
        </p:nvSpPr>
        <p:spPr bwMode="auto">
          <a:xfrm>
            <a:off x="5792418" y="5691182"/>
            <a:ext cx="2853666"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altLang="zh-CN" sz="1600" b="1" i="1" u="none" strike="noStrike" kern="1200" cap="none" spc="0" normalizeH="0" baseline="0" noProof="0" dirty="0">
                <a:ln>
                  <a:noFill/>
                </a:ln>
                <a:solidFill>
                  <a:srgbClr val="CC0000"/>
                </a:solidFill>
                <a:effectLst/>
                <a:uLnTx/>
                <a:uFillTx/>
                <a:latin typeface="Arial" panose="020B0604020202020204" pitchFamily="34" charset="0"/>
                <a:cs typeface="Arial" panose="020B0604020202020204" pitchFamily="34" charset="0"/>
              </a:rPr>
              <a:t>Nature </a:t>
            </a:r>
            <a:r>
              <a:rPr kumimoji="0" lang="de-DE" altLang="zh-CN" sz="1600" b="1" i="1" u="none" strike="noStrike" kern="1200" cap="none" spc="0" normalizeH="0" baseline="0" noProof="0" dirty="0" smtClean="0">
                <a:ln>
                  <a:noFill/>
                </a:ln>
                <a:solidFill>
                  <a:srgbClr val="CC0000"/>
                </a:solidFill>
                <a:effectLst/>
                <a:uLnTx/>
                <a:uFillTx/>
                <a:latin typeface="Arial" panose="020B0604020202020204" pitchFamily="34" charset="0"/>
                <a:cs typeface="Arial" panose="020B0604020202020204" pitchFamily="34" charset="0"/>
              </a:rPr>
              <a:t>Biomed. </a:t>
            </a:r>
            <a:r>
              <a:rPr kumimoji="0" lang="de-DE" altLang="zh-CN" sz="1600" b="1" i="1" u="none" strike="noStrike" kern="1200" cap="none" spc="0" normalizeH="0" baseline="0" noProof="0" dirty="0">
                <a:ln>
                  <a:noFill/>
                </a:ln>
                <a:solidFill>
                  <a:srgbClr val="CC0000"/>
                </a:solidFill>
                <a:effectLst/>
                <a:uLnTx/>
                <a:uFillTx/>
                <a:latin typeface="Arial" panose="020B0604020202020204" pitchFamily="34" charset="0"/>
                <a:cs typeface="Arial" panose="020B0604020202020204" pitchFamily="34" charset="0"/>
              </a:rPr>
              <a:t>Eng.</a:t>
            </a:r>
            <a:r>
              <a:rPr kumimoji="0" lang="de-DE" altLang="zh-CN" sz="1600" b="1" i="0" u="none" strike="noStrike" kern="1200" cap="none" spc="0" normalizeH="0" baseline="0" noProof="0" dirty="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rPr>
              <a:t> (</a:t>
            </a:r>
            <a:r>
              <a:rPr kumimoji="0" lang="de-DE" altLang="zh-CN" sz="1600" b="1" i="0" u="none" strike="noStrike" kern="1200" cap="none" spc="0" normalizeH="0" baseline="0" noProof="0" dirty="0" smtClean="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rPr>
              <a:t>2023</a:t>
            </a:r>
            <a:r>
              <a:rPr kumimoji="0" lang="de-DE" altLang="zh-CN" sz="1600" b="1" i="0" u="none" strike="noStrike" kern="1200" cap="none" spc="0" normalizeH="0" baseline="0" noProof="0" dirty="0" smtClean="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rPr>
              <a:t>)</a:t>
            </a:r>
          </a:p>
          <a:p>
            <a:pPr lvl="0" eaLnBrk="1" hangingPunct="1">
              <a:spcBef>
                <a:spcPct val="0"/>
              </a:spcBef>
              <a:buClrTx/>
              <a:buSzTx/>
              <a:buNone/>
              <a:defRPr/>
            </a:pPr>
            <a:r>
              <a:rPr lang="de-DE" altLang="zh-CN" sz="1600" i="1" dirty="0" smtClean="0">
                <a:solidFill>
                  <a:srgbClr val="CC0000"/>
                </a:solidFill>
              </a:rPr>
              <a:t>Science Advances</a:t>
            </a:r>
            <a:r>
              <a:rPr lang="de-DE" altLang="zh-CN" sz="1600" dirty="0" smtClean="0">
                <a:solidFill>
                  <a:srgbClr val="CC0000"/>
                </a:solidFill>
                <a:ea typeface="MS PGothic" panose="020B0600070205080204" pitchFamily="34" charset="-128"/>
              </a:rPr>
              <a:t> </a:t>
            </a:r>
            <a:r>
              <a:rPr lang="de-DE" altLang="zh-CN" sz="1600" dirty="0">
                <a:solidFill>
                  <a:srgbClr val="CC0000"/>
                </a:solidFill>
                <a:ea typeface="MS PGothic" panose="020B0600070205080204" pitchFamily="34" charset="-128"/>
              </a:rPr>
              <a:t>(2023)</a:t>
            </a:r>
            <a:endParaRPr kumimoji="0" lang="zh-CN" altLang="en-US" sz="1100" b="1" i="0" u="none" strike="noStrike" kern="1200" cap="none" spc="0" normalizeH="0" baseline="0" noProof="0" dirty="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 name="Rectangle 17"/>
          <p:cNvSpPr>
            <a:spLocks noChangeArrowheads="1"/>
          </p:cNvSpPr>
          <p:nvPr/>
        </p:nvSpPr>
        <p:spPr bwMode="auto">
          <a:xfrm>
            <a:off x="5792418" y="4470385"/>
            <a:ext cx="2238113"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altLang="zh-CN" sz="1600" b="1" i="1" u="none" strike="noStrike" kern="1200" cap="none" spc="0" normalizeH="0" baseline="0" noProof="0" dirty="0">
                <a:ln>
                  <a:noFill/>
                </a:ln>
                <a:solidFill>
                  <a:srgbClr val="CC0000"/>
                </a:solidFill>
                <a:effectLst/>
                <a:uLnTx/>
                <a:uFillTx/>
                <a:latin typeface="Arial"/>
                <a:cs typeface="Arial" panose="020B0604020202020204" pitchFamily="34" charset="0"/>
              </a:rPr>
              <a:t>Nature </a:t>
            </a:r>
            <a:r>
              <a:rPr kumimoji="0" lang="en-US" altLang="zh-CN" sz="1600" b="1" i="1" u="none" strike="noStrike" kern="1200" cap="none" spc="0" normalizeH="0" baseline="0" noProof="0" dirty="0" smtClean="0">
                <a:ln>
                  <a:noFill/>
                </a:ln>
                <a:solidFill>
                  <a:srgbClr val="CC0000"/>
                </a:solidFill>
                <a:effectLst/>
                <a:uLnTx/>
                <a:uFillTx/>
                <a:latin typeface="Arial"/>
                <a:cs typeface="Arial" panose="020B0604020202020204" pitchFamily="34" charset="0"/>
              </a:rPr>
              <a:t>Comm.</a:t>
            </a:r>
            <a:r>
              <a:rPr kumimoji="0" lang="de-DE"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 </a:t>
            </a:r>
            <a:r>
              <a:rPr kumimoji="0" lang="de-DE" altLang="zh-CN" sz="1600" b="1" i="0" u="none" strike="noStrike" kern="1200" cap="none" spc="0" normalizeH="0" baseline="0" noProof="0" dirty="0">
                <a:ln>
                  <a:noFill/>
                </a:ln>
                <a:solidFill>
                  <a:srgbClr val="CC0000"/>
                </a:solidFill>
                <a:effectLst/>
                <a:uLnTx/>
                <a:uFillTx/>
                <a:latin typeface="Arial"/>
                <a:ea typeface="MS PGothic" panose="020B0600070205080204" pitchFamily="34" charset="-128"/>
                <a:cs typeface="Arial" panose="020B0604020202020204" pitchFamily="34" charset="0"/>
              </a:rPr>
              <a:t>(</a:t>
            </a:r>
            <a:r>
              <a:rPr kumimoji="0" lang="de-DE"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2022)</a:t>
            </a:r>
            <a:endParaRPr lang="en-US" altLang="zh-CN" sz="1600" dirty="0">
              <a:solidFill>
                <a:srgbClr val="CC0000"/>
              </a:solidFill>
              <a:latin typeface="Arial"/>
              <a:ea typeface="MS PGothic" panose="020B0600070205080204" pitchFamily="34" charset="-128"/>
            </a:endParaRP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altLang="zh-CN" sz="1600" b="1" i="1"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PNAS</a:t>
            </a:r>
            <a:r>
              <a:rPr kumimoji="0" lang="de-DE"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 </a:t>
            </a:r>
            <a:r>
              <a:rPr kumimoji="0" lang="de-DE"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a:t>
            </a:r>
            <a:r>
              <a:rPr kumimoji="0" lang="de-DE"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2018)</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1600" b="1" i="1" u="none" strike="noStrike" kern="1200" cap="none" spc="0" normalizeH="0" baseline="0" noProof="0" dirty="0" err="1" smtClean="0">
                <a:ln>
                  <a:noFill/>
                </a:ln>
                <a:solidFill>
                  <a:srgbClr val="CC0000"/>
                </a:solidFill>
                <a:effectLst/>
                <a:uLnTx/>
                <a:uFillTx/>
                <a:ea typeface="MS PGothic" panose="020B0600070205080204" pitchFamily="34" charset="-128"/>
                <a:cs typeface="Arial" panose="020B0604020202020204" pitchFamily="34" charset="0"/>
              </a:rPr>
              <a:t>iScience</a:t>
            </a:r>
            <a:r>
              <a:rPr kumimoji="0" lang="en-US" altLang="zh-CN" sz="1600" b="1" i="0" u="none" strike="noStrike" kern="1200" cap="none" spc="0" normalizeH="0" baseline="0" noProof="0" dirty="0" smtClean="0">
                <a:ln>
                  <a:noFill/>
                </a:ln>
                <a:solidFill>
                  <a:srgbClr val="CC0000"/>
                </a:solidFill>
                <a:effectLst/>
                <a:uLnTx/>
                <a:uFillTx/>
                <a:ea typeface="MS PGothic" panose="020B0600070205080204" pitchFamily="34" charset="-128"/>
                <a:cs typeface="Arial" panose="020B0604020202020204" pitchFamily="34" charset="0"/>
              </a:rPr>
              <a:t> </a:t>
            </a:r>
            <a:r>
              <a:rPr kumimoji="0" lang="en-US" altLang="zh-CN" sz="1600" b="1" i="0" u="none" strike="noStrike" kern="1200" cap="none" spc="0" normalizeH="0" baseline="0" noProof="0" dirty="0">
                <a:ln>
                  <a:noFill/>
                </a:ln>
                <a:solidFill>
                  <a:srgbClr val="CC0000"/>
                </a:solidFill>
                <a:effectLst/>
                <a:uLnTx/>
                <a:uFillTx/>
                <a:ea typeface="MS PGothic" panose="020B0600070205080204" pitchFamily="34" charset="-128"/>
                <a:cs typeface="Arial" panose="020B0604020202020204" pitchFamily="34" charset="0"/>
              </a:rPr>
              <a:t>(2022)</a:t>
            </a:r>
            <a:endParaRPr kumimoji="0" lang="de-DE"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endParaRPr>
          </a:p>
        </p:txBody>
      </p:sp>
    </p:spTree>
    <p:extLst>
      <p:ext uri="{BB962C8B-B14F-4D97-AF65-F5344CB8AC3E}">
        <p14:creationId xmlns:p14="http://schemas.microsoft.com/office/powerpoint/2010/main" val="136662025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5" name="Rectangle 2"/>
          <p:cNvSpPr>
            <a:spLocks noGrp="1" noChangeArrowheads="1"/>
          </p:cNvSpPr>
          <p:nvPr>
            <p:ph type="title" idx="4294967295"/>
          </p:nvPr>
        </p:nvSpPr>
        <p:spPr/>
        <p:txBody>
          <a:bodyPr/>
          <a:lstStyle/>
          <a:p>
            <a:pPr algn="ctr"/>
            <a:r>
              <a:rPr lang="en-US" altLang="zh-CN" sz="3600" dirty="0" smtClean="0">
                <a:ea typeface="SimSun" panose="02010600030101010101" pitchFamily="2" charset="-122"/>
              </a:rPr>
              <a:t>Implantable Neural Interfaces</a:t>
            </a:r>
            <a:endParaRPr lang="en-US" altLang="zh-CN" sz="3600" dirty="0" smtClean="0">
              <a:ea typeface="SimSun" panose="02010600030101010101" pitchFamily="2" charset="-122"/>
            </a:endParaRPr>
          </a:p>
        </p:txBody>
      </p:sp>
      <p:pic>
        <p:nvPicPr>
          <p:cNvPr id="28" name="图片 27"/>
          <p:cNvPicPr>
            <a:picLocks noChangeAspect="1"/>
          </p:cNvPicPr>
          <p:nvPr/>
        </p:nvPicPr>
        <p:blipFill rotWithShape="1">
          <a:blip r:embed="rId4" cstate="print">
            <a:extLst>
              <a:ext uri="{28A0092B-C50C-407E-A947-70E740481C1C}">
                <a14:useLocalDpi xmlns:a14="http://schemas.microsoft.com/office/drawing/2010/main" val="0"/>
              </a:ext>
            </a:extLst>
          </a:blip>
          <a:srcRect/>
          <a:stretch/>
        </p:blipFill>
        <p:spPr>
          <a:xfrm>
            <a:off x="5909024" y="1417638"/>
            <a:ext cx="2839440" cy="2839437"/>
          </a:xfrm>
          <a:prstGeom prst="roundRect">
            <a:avLst>
              <a:gd name="adj" fmla="val 4944"/>
            </a:avLst>
          </a:prstGeom>
          <a:ln w="12700">
            <a:solidFill>
              <a:schemeClr val="tx1"/>
            </a:solidFill>
          </a:ln>
        </p:spPr>
      </p:pic>
      <p:grpSp>
        <p:nvGrpSpPr>
          <p:cNvPr id="29" name="组合 28"/>
          <p:cNvGrpSpPr/>
          <p:nvPr/>
        </p:nvGrpSpPr>
        <p:grpSpPr>
          <a:xfrm>
            <a:off x="539872" y="1417639"/>
            <a:ext cx="2880000" cy="2880000"/>
            <a:chOff x="644598" y="1434776"/>
            <a:chExt cx="3578400" cy="3578400"/>
          </a:xfrm>
        </p:grpSpPr>
        <p:sp>
          <p:nvSpPr>
            <p:cNvPr id="30" name="AutoShape 6"/>
            <p:cNvSpPr>
              <a:spLocks noChangeAspect="1" noChangeArrowheads="1"/>
            </p:cNvSpPr>
            <p:nvPr/>
          </p:nvSpPr>
          <p:spPr bwMode="auto">
            <a:xfrm>
              <a:off x="644598" y="1434776"/>
              <a:ext cx="3578400" cy="3578400"/>
            </a:xfrm>
            <a:prstGeom prst="roundRect">
              <a:avLst>
                <a:gd name="adj" fmla="val 4356"/>
              </a:avLst>
            </a:prstGeom>
            <a:solidFill>
              <a:srgbClr val="CCEC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a:spcBef>
                  <a:spcPct val="0"/>
                </a:spcBef>
                <a:buClrTx/>
                <a:buSzTx/>
                <a:buFontTx/>
                <a:buNone/>
              </a:pPr>
              <a:endParaRPr lang="zh-CN" altLang="en-US" sz="2000">
                <a:solidFill>
                  <a:srgbClr val="0000CC"/>
                </a:solidFill>
                <a:ea typeface="微软雅黑" panose="020B0503020204020204" pitchFamily="34" charset="-122"/>
              </a:endParaRPr>
            </a:p>
          </p:txBody>
        </p:sp>
        <p:pic>
          <p:nvPicPr>
            <p:cNvPr id="31" name="图片 215"/>
            <p:cNvPicPr>
              <a:picLocks/>
            </p:cNvPicPr>
            <p:nvPr>
              <p:custDataLst>
                <p:tags r:id="rId1"/>
              </p:custDataLst>
            </p:nvPr>
          </p:nvPicPr>
          <p:blipFill rotWithShape="1">
            <a:blip r:embed="rId5">
              <a:extLst>
                <a:ext uri="{28A0092B-C50C-407E-A947-70E740481C1C}">
                  <a14:useLocalDpi xmlns:a14="http://schemas.microsoft.com/office/drawing/2010/main" val="0"/>
                </a:ext>
              </a:extLst>
            </a:blip>
            <a:srcRect l="10905"/>
            <a:stretch/>
          </p:blipFill>
          <p:spPr>
            <a:xfrm>
              <a:off x="2300587" y="1568098"/>
              <a:ext cx="1813055" cy="1312080"/>
            </a:xfrm>
            <a:prstGeom prst="rect">
              <a:avLst/>
            </a:prstGeom>
            <a:noFill/>
            <a:ln w="19050">
              <a:noFill/>
              <a:miter lim="800000"/>
            </a:ln>
          </p:spPr>
        </p:pic>
        <p:pic>
          <p:nvPicPr>
            <p:cNvPr id="32" name="Picture 69" descr="long flexible fiber (2)"/>
            <p:cNvPicPr>
              <a:picLocks noChangeArrowheads="1"/>
            </p:cNvPicPr>
            <p:nvPr/>
          </p:nvPicPr>
          <p:blipFill rotWithShape="1">
            <a:blip r:embed="rId6" cstate="print">
              <a:extLst>
                <a:ext uri="{28A0092B-C50C-407E-A947-70E740481C1C}">
                  <a14:useLocalDpi xmlns:a14="http://schemas.microsoft.com/office/drawing/2010/main" val="0"/>
                </a:ext>
              </a:extLst>
            </a:blip>
            <a:srcRect/>
            <a:stretch/>
          </p:blipFill>
          <p:spPr bwMode="auto">
            <a:xfrm>
              <a:off x="2732451" y="3057091"/>
              <a:ext cx="1360945" cy="1812877"/>
            </a:xfrm>
            <a:prstGeom prst="rect">
              <a:avLst/>
            </a:prstGeom>
            <a:noFill/>
            <a:ln w="12700">
              <a:noFill/>
              <a:miter lim="800000"/>
              <a:headEnd/>
              <a:tailEnd/>
            </a:ln>
            <a:extLst>
              <a:ext uri="{909E8E84-426E-40DD-AFC4-6F175D3DCCD1}">
                <a14:hiddenFill xmlns:a14="http://schemas.microsoft.com/office/drawing/2010/main">
                  <a:solidFill>
                    <a:srgbClr val="FFFFFF"/>
                  </a:solidFill>
                </a14:hiddenFill>
              </a:ext>
            </a:extLst>
          </p:spPr>
        </p:pic>
        <p:pic>
          <p:nvPicPr>
            <p:cNvPr id="33" name="图片 32">
              <a:extLst>
                <a:ext uri="{FF2B5EF4-FFF2-40B4-BE49-F238E27FC236}">
                  <a16:creationId xmlns:a16="http://schemas.microsoft.com/office/drawing/2014/main" id="{B2187BE8-FFEF-F374-0B99-9814B51C1545}"/>
                </a:ext>
              </a:extLst>
            </p:cNvPr>
            <p:cNvPicPr>
              <a:picLocks noChangeAspect="1"/>
            </p:cNvPicPr>
            <p:nvPr/>
          </p:nvPicPr>
          <p:blipFill rotWithShape="1">
            <a:blip r:embed="rId7" cstate="print">
              <a:extLst>
                <a:ext uri="{28A0092B-C50C-407E-A947-70E740481C1C}">
                  <a14:useLocalDpi xmlns:a14="http://schemas.microsoft.com/office/drawing/2010/main"/>
                </a:ext>
              </a:extLst>
            </a:blip>
            <a:srcRect/>
            <a:stretch/>
          </p:blipFill>
          <p:spPr>
            <a:xfrm>
              <a:off x="790262" y="3517623"/>
              <a:ext cx="1695400" cy="1352342"/>
            </a:xfrm>
            <a:prstGeom prst="rect">
              <a:avLst/>
            </a:prstGeom>
          </p:spPr>
        </p:pic>
        <p:pic>
          <p:nvPicPr>
            <p:cNvPr id="34" name="图片 3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8791" y="1560012"/>
              <a:ext cx="1368402" cy="1814400"/>
            </a:xfrm>
            <a:prstGeom prst="rect">
              <a:avLst/>
            </a:prstGeom>
          </p:spPr>
        </p:pic>
      </p:grpSp>
      <p:sp>
        <p:nvSpPr>
          <p:cNvPr id="39" name="右箭头 38"/>
          <p:cNvSpPr/>
          <p:nvPr/>
        </p:nvSpPr>
        <p:spPr bwMode="auto">
          <a:xfrm flipH="1">
            <a:off x="3796631" y="2989705"/>
            <a:ext cx="1758259" cy="463147"/>
          </a:xfrm>
          <a:prstGeom prst="rightArrow">
            <a:avLst>
              <a:gd name="adj1" fmla="val 45537"/>
              <a:gd name="adj2" fmla="val 87936"/>
            </a:avLst>
          </a:prstGeom>
          <a:solidFill>
            <a:srgbClr val="00B050"/>
          </a:solidFill>
          <a:ln w="9525" cap="flat" cmpd="sng" algn="ctr">
            <a:noFill/>
            <a:prstDash val="solid"/>
            <a:round/>
            <a:headEnd type="none" w="med" len="med"/>
            <a:tailEnd type="none" w="med" len="med"/>
          </a:ln>
          <a:effectLst>
            <a:outerShdw blurRad="50800" dist="38100" dir="2700000" algn="tl" rotWithShape="0">
              <a:prstClr val="black">
                <a:alpha val="40000"/>
              </a:prstClr>
            </a:outerShdw>
          </a:effectLst>
          <a:scene3d>
            <a:camera prst="orthographicFront">
              <a:rot lat="0" lon="0" rev="0"/>
            </a:camera>
            <a:lightRig rig="contrasting" dir="t">
              <a:rot lat="0" lon="0" rev="7800000"/>
            </a:lightRig>
          </a:scene3d>
          <a:sp3d>
            <a:bevelT w="139700" h="139700"/>
          </a:sp3d>
          <a:extLst/>
        </p:spPr>
        <p:txBody>
          <a:bodyPr vert="horz" wrap="square" lIns="91440" tIns="45720" rIns="91440" bIns="45720" numCol="1" rtlCol="0" anchor="t" anchorCtr="0" compatLnSpc="1">
            <a:prstTxWarp prst="textNoShape">
              <a:avLst/>
            </a:prstTxWarp>
          </a:bodyPr>
          <a:lstStyle/>
          <a:p>
            <a:pPr marL="0" marR="0" lvl="0" indent="0" algn="l" defTabSz="820738"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w="22225">
                <a:solidFill>
                  <a:srgbClr val="333399"/>
                </a:solidFill>
                <a:prstDash val="solid"/>
              </a:ln>
              <a:solidFill>
                <a:srgbClr val="333399">
                  <a:lumMod val="40000"/>
                  <a:lumOff val="60000"/>
                </a:srgbClr>
              </a:solidFill>
              <a:effectLst/>
              <a:uLnTx/>
              <a:uFillTx/>
              <a:latin typeface="Arial" charset="0"/>
              <a:ea typeface="黑体" panose="02010609060101010101" pitchFamily="49" charset="-122"/>
              <a:cs typeface="Arial" charset="0"/>
            </a:endParaRPr>
          </a:p>
        </p:txBody>
      </p:sp>
      <p:sp>
        <p:nvSpPr>
          <p:cNvPr id="40" name="文本框 39"/>
          <p:cNvSpPr txBox="1"/>
          <p:nvPr/>
        </p:nvSpPr>
        <p:spPr>
          <a:xfrm>
            <a:off x="3938424" y="3452853"/>
            <a:ext cx="1582484" cy="523220"/>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800" b="1" i="0" u="none" strike="noStrike" kern="1200" cap="none" spc="0" normalizeH="0" baseline="0" noProof="0" dirty="0" smtClean="0">
                <a:ln>
                  <a:noFill/>
                </a:ln>
                <a:solidFill>
                  <a:srgbClr val="FF0000"/>
                </a:solidFill>
                <a:effectLst/>
                <a:uLnTx/>
                <a:uFillTx/>
                <a:latin typeface="Arial" panose="020B0604020202020204" pitchFamily="34" charset="0"/>
                <a:ea typeface="黑体" panose="02010609060101010101" pitchFamily="49" charset="-122"/>
                <a:cs typeface="Arial" panose="020B0604020202020204" pitchFamily="34" charset="0"/>
              </a:rPr>
              <a:t>Sensing</a:t>
            </a:r>
            <a:endParaRPr kumimoji="0" lang="zh-CN" altLang="en-US" sz="2800" b="1" i="0" u="none" strike="noStrike" kern="1200" cap="none" spc="0" normalizeH="0" baseline="0" noProof="0" dirty="0">
              <a:ln>
                <a:noFill/>
              </a:ln>
              <a:solidFill>
                <a:srgbClr val="FF0000"/>
              </a:solidFill>
              <a:effectLst/>
              <a:uLnTx/>
              <a:uFillTx/>
              <a:latin typeface="Arial" panose="020B0604020202020204" pitchFamily="34" charset="0"/>
              <a:ea typeface="黑体" panose="02010609060101010101" pitchFamily="49" charset="-122"/>
              <a:cs typeface="Arial" panose="020B0604020202020204" pitchFamily="34" charset="0"/>
            </a:endParaRPr>
          </a:p>
        </p:txBody>
      </p:sp>
      <p:sp>
        <p:nvSpPr>
          <p:cNvPr id="17" name="Text Box 26"/>
          <p:cNvSpPr txBox="1">
            <a:spLocks noChangeArrowheads="1"/>
          </p:cNvSpPr>
          <p:nvPr/>
        </p:nvSpPr>
        <p:spPr bwMode="auto">
          <a:xfrm>
            <a:off x="317279" y="4435201"/>
            <a:ext cx="5996572"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cs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Ca</a:t>
            </a:r>
            <a:r>
              <a:rPr kumimoji="0" lang="en-US" altLang="zh-CN" sz="2000" b="1" i="0" u="none" strike="noStrike" kern="1200" cap="none" spc="0" normalizeH="0" baseline="3000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2+</a:t>
            </a: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 fluorescence sensing</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Temperature sensing</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Dopamine sensing</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Oxygen sensing</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FF"/>
                </a:solidFill>
                <a:effectLst/>
                <a:uLnTx/>
                <a:uFillTx/>
                <a:latin typeface="Arial" panose="020B0604020202020204" pitchFamily="34" charset="0"/>
                <a:ea typeface="黑体" panose="02010609060101010101" pitchFamily="49" charset="-122"/>
                <a:cs typeface="Arial" panose="020B0604020202020204" pitchFamily="34" charset="0"/>
              </a:rPr>
              <a:t>...</a:t>
            </a:r>
          </a:p>
        </p:txBody>
      </p:sp>
      <p:sp>
        <p:nvSpPr>
          <p:cNvPr id="18" name="Rectangle 17"/>
          <p:cNvSpPr>
            <a:spLocks noChangeArrowheads="1"/>
          </p:cNvSpPr>
          <p:nvPr/>
        </p:nvSpPr>
        <p:spPr bwMode="auto">
          <a:xfrm>
            <a:off x="5457818" y="4783372"/>
            <a:ext cx="232345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altLang="zh-CN" sz="1600" b="1" i="1" u="none" strike="noStrike" kern="1200" cap="none" spc="0" normalizeH="0" baseline="0" noProof="0" dirty="0" smtClean="0">
                <a:ln>
                  <a:noFill/>
                </a:ln>
                <a:solidFill>
                  <a:srgbClr val="CC0000"/>
                </a:solidFill>
                <a:effectLst/>
                <a:uLnTx/>
                <a:uFillTx/>
                <a:latin typeface="Arial" panose="020B0604020202020204" pitchFamily="34" charset="0"/>
                <a:cs typeface="Arial" panose="020B0604020202020204" pitchFamily="34" charset="0"/>
              </a:rPr>
              <a:t>Light Sci. Appl. </a:t>
            </a:r>
            <a:r>
              <a:rPr kumimoji="0" lang="de-DE" altLang="zh-CN" sz="1600" b="1" i="0" u="none" strike="noStrike" kern="1200" cap="none" spc="0" normalizeH="0" baseline="0" noProof="0" dirty="0" smtClean="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rPr>
              <a:t>(2022)</a:t>
            </a:r>
            <a:endParaRPr kumimoji="0" lang="zh-CN" altLang="en-US" sz="1100" b="1" i="0" u="none" strike="noStrike" kern="1200" cap="none" spc="0" normalizeH="0" baseline="0" noProof="0" dirty="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 name="Rectangle 17"/>
          <p:cNvSpPr>
            <a:spLocks noChangeArrowheads="1"/>
          </p:cNvSpPr>
          <p:nvPr/>
        </p:nvSpPr>
        <p:spPr bwMode="auto">
          <a:xfrm>
            <a:off x="5909024" y="4486003"/>
            <a:ext cx="14029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altLang="zh-CN" sz="1600" b="1" i="1"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PNAS</a:t>
            </a:r>
            <a:r>
              <a:rPr kumimoji="0" lang="de-DE"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 (2018</a:t>
            </a:r>
            <a:r>
              <a:rPr kumimoji="0" lang="en-US"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rPr>
              <a:t>)</a:t>
            </a:r>
            <a:endParaRPr kumimoji="0" lang="de-DE" altLang="zh-CN" sz="1600" b="1" i="0" u="none" strike="noStrike" kern="1200" cap="none" spc="0" normalizeH="0" baseline="0" noProof="0" dirty="0" smtClean="0">
              <a:ln>
                <a:noFill/>
              </a:ln>
              <a:solidFill>
                <a:srgbClr val="CC0000"/>
              </a:solidFill>
              <a:effectLst/>
              <a:uLnTx/>
              <a:uFillTx/>
              <a:latin typeface="Arial"/>
              <a:ea typeface="MS PGothic" panose="020B0600070205080204" pitchFamily="34" charset="-128"/>
              <a:cs typeface="Arial" panose="020B0604020202020204" pitchFamily="34" charset="0"/>
            </a:endParaRPr>
          </a:p>
        </p:txBody>
      </p:sp>
      <p:sp>
        <p:nvSpPr>
          <p:cNvPr id="20" name="Rectangle 17"/>
          <p:cNvSpPr>
            <a:spLocks noChangeArrowheads="1"/>
          </p:cNvSpPr>
          <p:nvPr/>
        </p:nvSpPr>
        <p:spPr bwMode="auto">
          <a:xfrm>
            <a:off x="4979933" y="5090211"/>
            <a:ext cx="34690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altLang="zh-CN" sz="1600" b="1" i="1" u="none" strike="noStrike" kern="1200" cap="none" spc="0" normalizeH="0" baseline="0" noProof="0" dirty="0" smtClean="0">
                <a:ln>
                  <a:noFill/>
                </a:ln>
                <a:solidFill>
                  <a:srgbClr val="CC0000"/>
                </a:solidFill>
                <a:effectLst/>
                <a:uLnTx/>
                <a:uFillTx/>
                <a:latin typeface="Arial" panose="020B0604020202020204" pitchFamily="34" charset="0"/>
                <a:cs typeface="Arial" panose="020B0604020202020204" pitchFamily="34" charset="0"/>
              </a:rPr>
              <a:t>Microsystems &amp; Nanoengr. </a:t>
            </a:r>
            <a:r>
              <a:rPr kumimoji="0" lang="de-DE" altLang="zh-CN" sz="1600" b="1" i="0" u="none" strike="noStrike" kern="1200" cap="none" spc="0" normalizeH="0" baseline="0" noProof="0" dirty="0" smtClean="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rPr>
              <a:t>(2020)</a:t>
            </a:r>
            <a:endParaRPr kumimoji="0" lang="zh-CN" altLang="en-US" sz="1100" b="1" i="0" u="none" strike="noStrike" kern="1200" cap="none" spc="0" normalizeH="0" baseline="0" noProof="0" dirty="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1" name="Rectangle 17"/>
          <p:cNvSpPr>
            <a:spLocks noChangeArrowheads="1"/>
          </p:cNvSpPr>
          <p:nvPr/>
        </p:nvSpPr>
        <p:spPr bwMode="auto">
          <a:xfrm>
            <a:off x="5457818" y="5394702"/>
            <a:ext cx="253306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rgbClr val="084887"/>
              </a:buClr>
              <a:buSzPct val="120000"/>
              <a:buFont typeface="Wingdings" panose="05000000000000000000" pitchFamily="2" charset="2"/>
              <a:buChar char="§"/>
              <a:defRPr sz="240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spcBef>
                <a:spcPct val="20000"/>
              </a:spcBef>
              <a:buClr>
                <a:srgbClr val="990000"/>
              </a:buClr>
              <a:buSzPct val="60000"/>
              <a:buFont typeface="Wingdings" panose="05000000000000000000" pitchFamily="2" charset="2"/>
              <a:buChar char="r"/>
              <a:defRPr sz="2000">
                <a:solidFill>
                  <a:srgbClr val="0000CC"/>
                </a:solidFill>
                <a:latin typeface="Arial" panose="020B0604020202020204" pitchFamily="34" charset="0"/>
                <a:ea typeface="黑体" panose="02010609060101010101" pitchFamily="49" charset="-122"/>
                <a:cs typeface="Arial" panose="020B0604020202020204" pitchFamily="34" charset="0"/>
              </a:defRPr>
            </a:lvl2pPr>
            <a:lvl3pPr marL="1143000" indent="-228600">
              <a:spcBef>
                <a:spcPct val="20000"/>
              </a:spcBef>
              <a:buClr>
                <a:srgbClr val="084887"/>
              </a:buClr>
              <a:buSzPct val="110000"/>
              <a:buFont typeface="Wingdings" panose="05000000000000000000" pitchFamily="2" charset="2"/>
              <a:buChar char="§"/>
              <a:defRPr>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spcBef>
                <a:spcPct val="20000"/>
              </a:spcBef>
              <a:buClr>
                <a:srgbClr val="990000"/>
              </a:buClr>
              <a:buSzPct val="60000"/>
              <a:buFont typeface="Wingdings" panose="05000000000000000000" pitchFamily="2" charset="2"/>
              <a:buChar char="r"/>
              <a:defRPr sz="160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spcBef>
                <a:spcPct val="20000"/>
              </a:spcBef>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6pPr>
            <a:lvl7pPr marL="29718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7pPr>
            <a:lvl8pPr marL="34290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8pPr>
            <a:lvl9pPr marL="3886200" indent="-228600" eaLnBrk="0" fontAlgn="base" hangingPunct="0">
              <a:spcBef>
                <a:spcPct val="20000"/>
              </a:spcBef>
              <a:spcAft>
                <a:spcPct val="0"/>
              </a:spcAft>
              <a:buClr>
                <a:srgbClr val="084887"/>
              </a:buClr>
              <a:buSzPct val="110000"/>
              <a:buFont typeface="Wingdings" panose="05000000000000000000" pitchFamily="2" charset="2"/>
              <a:buChar char="§"/>
              <a:defRPr sz="1400">
                <a:solidFill>
                  <a:schemeClr val="tx1"/>
                </a:solidFill>
                <a:latin typeface="Arial" panose="020B0604020202020204" pitchFamily="34" charset="0"/>
                <a:ea typeface="黑体" panose="02010609060101010101" pitchFamily="49" charset="-122"/>
                <a:cs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altLang="zh-CN" sz="1600" b="1" i="1" u="none" strike="noStrike" kern="1200" cap="none" spc="0" normalizeH="0" baseline="0" noProof="0" dirty="0" smtClean="0">
                <a:ln>
                  <a:noFill/>
                </a:ln>
                <a:solidFill>
                  <a:srgbClr val="CC0000"/>
                </a:solidFill>
                <a:effectLst/>
                <a:uLnTx/>
                <a:uFillTx/>
                <a:latin typeface="Arial" panose="020B0604020202020204" pitchFamily="34" charset="0"/>
                <a:cs typeface="Arial" panose="020B0604020202020204" pitchFamily="34" charset="0"/>
              </a:rPr>
              <a:t>Nature Photonics </a:t>
            </a:r>
            <a:r>
              <a:rPr kumimoji="0" lang="de-DE" altLang="zh-CN" sz="1600" b="1" i="0" u="none" strike="noStrike" kern="1200" cap="none" spc="0" normalizeH="0" baseline="0" noProof="0" dirty="0" smtClean="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rPr>
              <a:t>(2024)</a:t>
            </a:r>
            <a:endParaRPr kumimoji="0" lang="zh-CN" altLang="en-US" sz="1100" b="1" i="0" u="none" strike="noStrike" kern="1200" cap="none" spc="0" normalizeH="0" baseline="0" noProof="0" dirty="0">
              <a:ln>
                <a:noFill/>
              </a:ln>
              <a:solidFill>
                <a:srgbClr val="CC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Tree>
    <p:extLst>
      <p:ext uri="{BB962C8B-B14F-4D97-AF65-F5344CB8AC3E}">
        <p14:creationId xmlns:p14="http://schemas.microsoft.com/office/powerpoint/2010/main" val="2705920528"/>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AS_UNIQUEID" val="494"/>
</p:tagLst>
</file>

<file path=ppt/tags/tag2.xml><?xml version="1.0" encoding="utf-8"?>
<p:tagLst xmlns:a="http://schemas.openxmlformats.org/drawingml/2006/main" xmlns:r="http://schemas.openxmlformats.org/officeDocument/2006/relationships" xmlns:p="http://schemas.openxmlformats.org/presentationml/2006/main">
  <p:tag name="AS_UNIQUEID" val="494"/>
</p:tagLst>
</file>

<file path=ppt/tags/tag3.xml><?xml version="1.0" encoding="utf-8"?>
<p:tagLst xmlns:a="http://schemas.openxmlformats.org/drawingml/2006/main" xmlns:r="http://schemas.openxmlformats.org/officeDocument/2006/relationships" xmlns:p="http://schemas.openxmlformats.org/presentationml/2006/main">
  <p:tag name="AS_UNIQUEID" val="494"/>
</p:tagLst>
</file>

<file path=ppt/theme/theme1.xml><?xml version="1.0" encoding="utf-8"?>
<a:theme xmlns:a="http://schemas.openxmlformats.org/drawingml/2006/main" name="2_UIUC">
  <a:themeElements>
    <a:clrScheme name="UIUC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UIU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1800" b="1" i="0" u="none" strike="noStrike" cap="none" normalizeH="0" baseline="0" smtClean="0">
            <a:ln>
              <a:noFill/>
            </a:ln>
            <a:solidFill>
              <a:schemeClr val="tx1"/>
            </a:solidFill>
            <a:effectLst/>
            <a:latin typeface="Arial" charset="0"/>
            <a:ea typeface="宋体" charset="-122"/>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1800" b="1" i="0" u="none" strike="noStrike" cap="none" normalizeH="0" baseline="0" smtClean="0">
            <a:ln>
              <a:noFill/>
            </a:ln>
            <a:solidFill>
              <a:schemeClr val="tx1"/>
            </a:solidFill>
            <a:effectLst/>
            <a:latin typeface="Arial" charset="0"/>
            <a:ea typeface="宋体" charset="-122"/>
            <a:cs typeface="Arial" charset="0"/>
          </a:defRPr>
        </a:defPPr>
      </a:lstStyle>
    </a:lnDef>
  </a:objectDefaults>
  <a:extraClrSchemeLst>
    <a:extraClrScheme>
      <a:clrScheme name="UIUC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UIUC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UIUC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UIUC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UIUC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UIUC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UIUC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UIUC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UIUC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UIUC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UIUC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UIUC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테마">
  <a:themeElements>
    <a:clrScheme name="Office">
      <a:dk1>
        <a:sysClr val="windowText" lastClr="000000"/>
      </a:dk1>
      <a:lt1>
        <a:sysClr val="window" lastClr="CCE8C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101048</TotalTime>
  <Words>995</Words>
  <Application>Microsoft Office PowerPoint</Application>
  <PresentationFormat>全屏显示(4:3)</PresentationFormat>
  <Paragraphs>50</Paragraphs>
  <Slides>4</Slides>
  <Notes>4</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4</vt:i4>
      </vt:variant>
    </vt:vector>
  </HeadingPairs>
  <TitlesOfParts>
    <vt:vector size="13" baseType="lpstr">
      <vt:lpstr>Arial</vt:lpstr>
      <vt:lpstr>黑体</vt:lpstr>
      <vt:lpstr>Wingdings</vt:lpstr>
      <vt:lpstr>Calibri</vt:lpstr>
      <vt:lpstr>SimSun</vt:lpstr>
      <vt:lpstr>MS PGothic</vt:lpstr>
      <vt:lpstr>Symbol</vt:lpstr>
      <vt:lpstr>等线</vt:lpstr>
      <vt:lpstr>2_UIUC</vt:lpstr>
      <vt:lpstr>Microscale Photonic Devices</vt:lpstr>
      <vt:lpstr>Implantable Neural Interfaces</vt:lpstr>
      <vt:lpstr>Implantable Neural Interfaces</vt:lpstr>
      <vt:lpstr>Implantable Neural Interfaces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LSC results</dc:title>
  <dc:creator>Xing Sheng</dc:creator>
  <cp:lastModifiedBy>webuser</cp:lastModifiedBy>
  <cp:revision>904</cp:revision>
  <dcterms:created xsi:type="dcterms:W3CDTF">2011-01-11T02:22:33Z</dcterms:created>
  <dcterms:modified xsi:type="dcterms:W3CDTF">2024-08-08T15:01:19Z</dcterms:modified>
</cp:coreProperties>
</file>