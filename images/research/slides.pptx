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55" r:id="rId1"/>
    <p:sldMasterId id="2147483794" r:id="rId2"/>
  </p:sldMasterIdLst>
  <p:notesMasterIdLst>
    <p:notesMasterId r:id="rId10"/>
  </p:notesMasterIdLst>
  <p:handoutMasterIdLst>
    <p:handoutMasterId r:id="rId11"/>
  </p:handoutMasterIdLst>
  <p:sldIdLst>
    <p:sldId id="889" r:id="rId3"/>
    <p:sldId id="840" r:id="rId4"/>
    <p:sldId id="628" r:id="rId5"/>
    <p:sldId id="688" r:id="rId6"/>
    <p:sldId id="890" r:id="rId7"/>
    <p:sldId id="891" r:id="rId8"/>
    <p:sldId id="793" r:id="rId9"/>
  </p:sldIdLst>
  <p:sldSz cx="12190413" cy="6858000"/>
  <p:notesSz cx="7010400" cy="92964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0000CC"/>
        </a:solidFill>
        <a:latin typeface="Arial" panose="020B0604020202020204" pitchFamily="34" charset="0"/>
        <a:ea typeface="黑体" panose="02010609060101010101" pitchFamily="49" charset="-122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0000CC"/>
        </a:solidFill>
        <a:latin typeface="Arial" panose="020B0604020202020204" pitchFamily="34" charset="0"/>
        <a:ea typeface="黑体" panose="02010609060101010101" pitchFamily="49" charset="-122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0000CC"/>
        </a:solidFill>
        <a:latin typeface="Arial" panose="020B0604020202020204" pitchFamily="34" charset="0"/>
        <a:ea typeface="黑体" panose="02010609060101010101" pitchFamily="49" charset="-122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0000CC"/>
        </a:solidFill>
        <a:latin typeface="Arial" panose="020B0604020202020204" pitchFamily="34" charset="0"/>
        <a:ea typeface="黑体" panose="02010609060101010101" pitchFamily="49" charset="-122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0000CC"/>
        </a:solidFill>
        <a:latin typeface="Arial" panose="020B0604020202020204" pitchFamily="34" charset="0"/>
        <a:ea typeface="黑体" panose="02010609060101010101" pitchFamily="49" charset="-122"/>
        <a:cs typeface="Arial" panose="020B0604020202020204" pitchFamily="34" charset="0"/>
      </a:defRPr>
    </a:lvl5pPr>
    <a:lvl6pPr marL="2286000" algn="l" defTabSz="914400" rtl="0" eaLnBrk="1" latinLnBrk="0" hangingPunct="1">
      <a:defRPr sz="2000" kern="1200">
        <a:solidFill>
          <a:srgbClr val="0000CC"/>
        </a:solidFill>
        <a:latin typeface="Arial" panose="020B0604020202020204" pitchFamily="34" charset="0"/>
        <a:ea typeface="黑体" panose="02010609060101010101" pitchFamily="49" charset="-122"/>
        <a:cs typeface="Arial" panose="020B0604020202020204" pitchFamily="34" charset="0"/>
      </a:defRPr>
    </a:lvl6pPr>
    <a:lvl7pPr marL="2743200" algn="l" defTabSz="914400" rtl="0" eaLnBrk="1" latinLnBrk="0" hangingPunct="1">
      <a:defRPr sz="2000" kern="1200">
        <a:solidFill>
          <a:srgbClr val="0000CC"/>
        </a:solidFill>
        <a:latin typeface="Arial" panose="020B0604020202020204" pitchFamily="34" charset="0"/>
        <a:ea typeface="黑体" panose="02010609060101010101" pitchFamily="49" charset="-122"/>
        <a:cs typeface="Arial" panose="020B0604020202020204" pitchFamily="34" charset="0"/>
      </a:defRPr>
    </a:lvl7pPr>
    <a:lvl8pPr marL="3200400" algn="l" defTabSz="914400" rtl="0" eaLnBrk="1" latinLnBrk="0" hangingPunct="1">
      <a:defRPr sz="2000" kern="1200">
        <a:solidFill>
          <a:srgbClr val="0000CC"/>
        </a:solidFill>
        <a:latin typeface="Arial" panose="020B0604020202020204" pitchFamily="34" charset="0"/>
        <a:ea typeface="黑体" panose="02010609060101010101" pitchFamily="49" charset="-122"/>
        <a:cs typeface="Arial" panose="020B0604020202020204" pitchFamily="34" charset="0"/>
      </a:defRPr>
    </a:lvl8pPr>
    <a:lvl9pPr marL="3657600" algn="l" defTabSz="914400" rtl="0" eaLnBrk="1" latinLnBrk="0" hangingPunct="1">
      <a:defRPr sz="2000" kern="1200">
        <a:solidFill>
          <a:srgbClr val="0000CC"/>
        </a:solidFill>
        <a:latin typeface="Arial" panose="020B0604020202020204" pitchFamily="34" charset="0"/>
        <a:ea typeface="黑体" panose="02010609060101010101" pitchFamily="49" charset="-122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00FF"/>
    <a:srgbClr val="FF0000"/>
    <a:srgbClr val="FFCC00"/>
    <a:srgbClr val="FF9933"/>
    <a:srgbClr val="CC0000"/>
    <a:srgbClr val="FFFF66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00" autoAdjust="0"/>
    <p:restoredTop sz="92369" autoAdjust="0"/>
  </p:normalViewPr>
  <p:slideViewPr>
    <p:cSldViewPr>
      <p:cViewPr varScale="1">
        <p:scale>
          <a:sx n="53" d="100"/>
          <a:sy n="53" d="100"/>
        </p:scale>
        <p:origin x="619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3" d="100"/>
          <a:sy n="43" d="100"/>
        </p:scale>
        <p:origin x="-1685" y="-62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 b="1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 b="1">
                <a:solidFill>
                  <a:schemeClr val="tx1"/>
                </a:solidFill>
              </a:defRPr>
            </a:lvl1pPr>
          </a:lstStyle>
          <a:p>
            <a:fld id="{9D2C15F1-7A75-433D-B577-CCD3A4BD5CB0}" type="datetimeFigureOut">
              <a:rPr lang="en-US" altLang="zh-CN"/>
              <a:pPr/>
              <a:t>10/6/2026</a:t>
            </a:fld>
            <a:endParaRPr lang="en-US" altLang="zh-CN"/>
          </a:p>
        </p:txBody>
      </p:sp>
      <p:sp>
        <p:nvSpPr>
          <p:cNvPr id="1024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 b="1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024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 b="1">
                <a:solidFill>
                  <a:schemeClr val="tx1"/>
                </a:solidFill>
              </a:defRPr>
            </a:lvl1pPr>
          </a:lstStyle>
          <a:p>
            <a:fld id="{53EE000B-F37A-4326-A43B-75E4B96F4AA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sz="1200" b="1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 b="1">
                <a:solidFill>
                  <a:schemeClr val="tx1"/>
                </a:solidFill>
              </a:defRPr>
            </a:lvl1pPr>
          </a:lstStyle>
          <a:p>
            <a:fld id="{2D13B42B-A19E-431C-8756-FD49519C97D7}" type="datetimeFigureOut">
              <a:rPr lang="en-US" altLang="zh-CN"/>
              <a:pPr/>
              <a:t>10/6/2026</a:t>
            </a:fld>
            <a:endParaRPr lang="en-US" altLang="zh-CN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442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altLang="zh-CN" smtClean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sz="1200" b="1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 b="1">
                <a:solidFill>
                  <a:schemeClr val="tx1"/>
                </a:solidFill>
              </a:defRPr>
            </a:lvl1pPr>
          </a:lstStyle>
          <a:p>
            <a:fld id="{6A313956-3C26-4920-83D0-1CADB7C7346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6659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19292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Rectangle 3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011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Rectangle 3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687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Rectangle 3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8441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Rectangle 3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160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Rectangle 3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417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2413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2413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65F73BE-8F00-4211-82BD-549FCC860CB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09468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12FEA30-AA52-45E7-A450-89709042518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53504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401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4013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16655DB-6E49-497B-BEAA-8A0CC609A4A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05638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08613" cy="45259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0613" y="1600200"/>
            <a:ext cx="5410200" cy="45259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7914671-6332-436F-BB52-ABCF8C21061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92227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BADC85F-B0AC-46F5-9438-7E38A56BE4D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12379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7"/>
          <p:cNvSpPr>
            <a:spLocks noChangeShapeType="1"/>
          </p:cNvSpPr>
          <p:nvPr userDrawn="1"/>
        </p:nvSpPr>
        <p:spPr bwMode="auto">
          <a:xfrm>
            <a:off x="609600" y="1219200"/>
            <a:ext cx="1086961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41DD3C-EDE5-4FA9-92C0-B5B340C8D3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1213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4304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2413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2413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65F73BE-8F00-4211-82BD-549FCC860CB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9027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12FEA30-AA52-45E7-A450-89709042518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3666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401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4013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16655DB-6E49-497B-BEAA-8A0CC609A4A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1610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08613" cy="45259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0613" y="1600200"/>
            <a:ext cx="5410200" cy="45259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7914671-6332-436F-BB52-ABCF8C21061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62055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4012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0613" y="1681163"/>
            <a:ext cx="51831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0613" y="2505075"/>
            <a:ext cx="51831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69650D4-45BF-48E7-B09B-989500481E5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44344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BADC85F-B0AC-46F5-9438-7E38A56BE4D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85021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3D37DBB-3790-4527-961B-EDBEEEF1E65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32977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061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CE30171-84F2-4D94-82E2-223F84932CC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79658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06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4F34DEC-FB8D-4217-9CD7-BF6F00CD2FC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99884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9E916AE-B6AB-462A-B862-A0E6D48D0D3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40487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1613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8079902-C8B1-4DBC-BBED-E83C4FE950D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17409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220663" y="238125"/>
            <a:ext cx="11437937" cy="138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en-US" altLang="zh-CN" sz="1800"/>
          </a:p>
        </p:txBody>
      </p:sp>
      <p:sp>
        <p:nvSpPr>
          <p:cNvPr id="75776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12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  <a:endParaRPr lang="en-US" altLang="ko-KR" smtClean="0"/>
          </a:p>
        </p:txBody>
      </p:sp>
      <p:sp>
        <p:nvSpPr>
          <p:cNvPr id="75776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121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53800" y="6296025"/>
            <a:ext cx="836613" cy="4889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73FF5346-7319-479F-9437-B0E0A61E05CD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033" name="Line 7"/>
          <p:cNvSpPr>
            <a:spLocks noChangeShapeType="1"/>
          </p:cNvSpPr>
          <p:nvPr userDrawn="1"/>
        </p:nvSpPr>
        <p:spPr bwMode="auto">
          <a:xfrm>
            <a:off x="609600" y="1219200"/>
            <a:ext cx="1086961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sz="1800" b="1">
              <a:solidFill>
                <a:schemeClr val="tx1"/>
              </a:solidFill>
              <a:latin typeface="Arial" charset="0"/>
              <a:ea typeface="宋体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1" r:id="rId5"/>
    <p:sldLayoutId id="2147483793" r:id="rId6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3200" b="1" kern="1200">
          <a:solidFill>
            <a:srgbClr val="084887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rgbClr val="084887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rgbClr val="084887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rgbClr val="084887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rgbClr val="084887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084887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084887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084887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084887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084887"/>
        </a:buClr>
        <a:buSzPct val="12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" panose="05000000000000000000" pitchFamily="2" charset="2"/>
        <a:buChar char="r"/>
        <a:defRPr sz="2000" kern="1200">
          <a:solidFill>
            <a:srgbClr val="0000CC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084887"/>
        </a:buClr>
        <a:buSzPct val="110000"/>
        <a:buFont typeface="Wingdings" panose="05000000000000000000" pitchFamily="2" charset="2"/>
        <a:buChar char="§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" panose="05000000000000000000" pitchFamily="2" charset="2"/>
        <a:buChar char="r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084887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220663" y="238125"/>
            <a:ext cx="11437937" cy="138113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en-US" altLang="zh-CN" sz="1800"/>
          </a:p>
        </p:txBody>
      </p:sp>
      <p:sp>
        <p:nvSpPr>
          <p:cNvPr id="75776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12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  <a:endParaRPr lang="en-US" altLang="ko-KR" smtClean="0"/>
          </a:p>
        </p:txBody>
      </p:sp>
      <p:sp>
        <p:nvSpPr>
          <p:cNvPr id="75776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121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53800" y="6296025"/>
            <a:ext cx="836613" cy="4889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73FF5346-7319-479F-9437-B0E0A61E05CD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033" name="Line 7"/>
          <p:cNvSpPr>
            <a:spLocks noChangeShapeType="1"/>
          </p:cNvSpPr>
          <p:nvPr userDrawn="1"/>
        </p:nvSpPr>
        <p:spPr bwMode="auto">
          <a:xfrm>
            <a:off x="609600" y="1219200"/>
            <a:ext cx="1086961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sz="1800" b="1">
              <a:solidFill>
                <a:schemeClr val="tx1"/>
              </a:solidFill>
              <a:latin typeface="Arial" charset="0"/>
              <a:ea typeface="宋体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3953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3200" b="1" kern="1200">
          <a:solidFill>
            <a:srgbClr val="084887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rgbClr val="084887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rgbClr val="084887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rgbClr val="084887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rgbClr val="084887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084887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084887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084887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084887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084887"/>
        </a:buClr>
        <a:buSzPct val="12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" panose="05000000000000000000" pitchFamily="2" charset="2"/>
        <a:buChar char="r"/>
        <a:defRPr sz="2000" kern="1200">
          <a:solidFill>
            <a:srgbClr val="0000CC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084887"/>
        </a:buClr>
        <a:buSzPct val="110000"/>
        <a:buFont typeface="Wingdings" panose="05000000000000000000" pitchFamily="2" charset="2"/>
        <a:buChar char="§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" panose="05000000000000000000" pitchFamily="2" charset="2"/>
        <a:buChar char="r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084887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10" Type="http://schemas.openxmlformats.org/officeDocument/2006/relationships/image" Target="../media/image17.png"/><Relationship Id="rId4" Type="http://schemas.openxmlformats.org/officeDocument/2006/relationships/image" Target="../media/image11.jpe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21" name="Rectangle 13"/>
          <p:cNvSpPr txBox="1">
            <a:spLocks noGrp="1" noChangeArrowheads="1"/>
          </p:cNvSpPr>
          <p:nvPr/>
        </p:nvSpPr>
        <p:spPr bwMode="auto">
          <a:xfrm>
            <a:off x="11277600" y="6381750"/>
            <a:ext cx="91281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ABB3BC-F383-4107-B734-B3E6D173D589}" type="slidenum">
              <a:rPr kumimoji="0" lang="en-US" altLang="zh-CN" sz="1800" b="1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800" b="1" i="0" u="none" strike="noStrike" kern="120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65227" name="Picture 11" descr="200px-Department_of_Electronic_Engineering,_Tsinghua_University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0397" y="5877272"/>
            <a:ext cx="903976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228" name="Picture 12" descr="logo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44059" y="5877272"/>
            <a:ext cx="4737656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5231" name="Rectangle 2"/>
          <p:cNvSpPr>
            <a:spLocks noChangeArrowheads="1"/>
          </p:cNvSpPr>
          <p:nvPr/>
        </p:nvSpPr>
        <p:spPr bwMode="auto">
          <a:xfrm>
            <a:off x="334566" y="1484635"/>
            <a:ext cx="11736783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4000" b="1" i="0" u="none" strike="noStrike" kern="1200" cap="none" spc="0" normalizeH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面向神经科学</a:t>
            </a:r>
            <a:r>
              <a:rPr kumimoji="0" lang="zh-CN" altLang="en-US" sz="3600" b="1" i="0" u="none" strike="noStrike" kern="120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的植入式微纳光电材料与器件</a:t>
            </a:r>
            <a:endParaRPr kumimoji="0" lang="en-US" altLang="zh-CN" sz="3600" b="1" i="0" u="none" strike="noStrike" kern="1200" cap="none" spc="0" normalizeH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4000" b="1" i="0" u="none" strike="noStrike" kern="1200" cap="none" spc="0" normalizeH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Implantable Optoelectronic Devices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for Advanced Neural Interfaces</a:t>
            </a:r>
          </a:p>
        </p:txBody>
      </p:sp>
      <p:pic>
        <p:nvPicPr>
          <p:cNvPr id="265232" name="Picture 16" descr="logo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9064" y="5877272"/>
            <a:ext cx="894375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8149764" y="4140369"/>
            <a:ext cx="349005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Xing Sheng </a:t>
            </a:r>
            <a:r>
              <a:rPr kumimoji="0" lang="zh-CN" altLang="en-US" sz="3200" b="1" i="0" u="none" strike="noStrike" kern="1200" cap="none" spc="0" normalizeH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盛 兴</a:t>
            </a:r>
            <a:endParaRPr kumimoji="0" lang="zh-CN" altLang="en-US" sz="3200" b="1" i="0" u="none" strike="noStrike" kern="1200" cap="none" spc="0" normalizeH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Text Box 20"/>
          <p:cNvSpPr txBox="1">
            <a:spLocks noChangeArrowheads="1"/>
          </p:cNvSpPr>
          <p:nvPr/>
        </p:nvSpPr>
        <p:spPr bwMode="auto">
          <a:xfrm>
            <a:off x="5980949" y="5013176"/>
            <a:ext cx="594752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Ph.D., Professor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Department </a:t>
            </a:r>
            <a:r>
              <a:rPr kumimoji="0" lang="en-US" altLang="zh-CN" sz="24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of Electronic Engineering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IDG/McGovern </a:t>
            </a:r>
            <a:r>
              <a:rPr kumimoji="0" lang="en-US" altLang="zh-CN" sz="24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Brain Research Institute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Tsinghua </a:t>
            </a:r>
            <a:r>
              <a:rPr kumimoji="0" lang="en-US" altLang="zh-CN" sz="2400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University</a:t>
            </a:r>
            <a:endParaRPr kumimoji="0" lang="en-US" altLang="zh-CN" sz="2400" b="1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530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8400" y="274638"/>
            <a:ext cx="10971213" cy="1143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4000" dirty="0"/>
              <a:t>Technology for the Brain</a:t>
            </a:r>
            <a:endParaRPr lang="zh-CN" altLang="en-US" sz="4000" dirty="0"/>
          </a:p>
        </p:txBody>
      </p:sp>
      <p:sp>
        <p:nvSpPr>
          <p:cNvPr id="11268" name="Rectangle 13"/>
          <p:cNvSpPr txBox="1">
            <a:spLocks noGrp="1" noChangeArrowheads="1"/>
          </p:cNvSpPr>
          <p:nvPr/>
        </p:nvSpPr>
        <p:spPr bwMode="auto">
          <a:xfrm>
            <a:off x="11277600" y="6381750"/>
            <a:ext cx="91281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84887"/>
              </a:buClr>
              <a:buSzPct val="120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200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E11856-CA97-4A44-968F-77FAB07ADB83}" type="slidenum"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1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42155" y="2074259"/>
            <a:ext cx="3240953" cy="43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1245011" y="1268760"/>
            <a:ext cx="302198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84887"/>
              </a:buClr>
              <a:buSzPct val="120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200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Brain Science: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the Last Frontier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Text Box 17"/>
          <p:cNvSpPr txBox="1">
            <a:spLocks noChangeArrowheads="1"/>
          </p:cNvSpPr>
          <p:nvPr/>
        </p:nvSpPr>
        <p:spPr bwMode="auto">
          <a:xfrm>
            <a:off x="5447134" y="1417638"/>
            <a:ext cx="6227065" cy="52629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</a:rPr>
              <a:t>“Progress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</a:rPr>
              <a:t>in science depends </a:t>
            </a:r>
            <a:r>
              <a:rPr kumimoji="0" lang="en-US" altLang="zh-CN" sz="28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</a:rPr>
              <a:t>on: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1" i="1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</a:rPr>
              <a:t>new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</a:rPr>
              <a:t>techniques, </a:t>
            </a:r>
            <a:endParaRPr kumimoji="0" lang="en-US" altLang="zh-CN" sz="2800" b="1" i="1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</a:rPr>
              <a:t>new discoveries,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</a:rPr>
              <a:t>and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</a:rPr>
              <a:t>new ideas, </a:t>
            </a:r>
            <a:endParaRPr kumimoji="0" lang="en-US" altLang="zh-CN" sz="2800" b="1" i="1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</a:rPr>
              <a:t>probably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</a:rPr>
              <a:t>in that order</a:t>
            </a:r>
            <a:r>
              <a:rPr kumimoji="0" lang="en-US" altLang="zh-CN" sz="28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</a:rPr>
              <a:t>.”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1" i="1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2800" b="1" i="1" dirty="0">
              <a:solidFill>
                <a:srgbClr val="C00000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1" i="1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</a:rPr>
              <a:t>---- Sydney</a:t>
            </a:r>
            <a:r>
              <a:rPr kumimoji="0" lang="en-US" altLang="zh-CN" sz="2800" b="1" i="1" u="none" strike="noStrike" kern="120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</a:rPr>
              <a:t> </a:t>
            </a:r>
            <a:r>
              <a:rPr kumimoji="0" lang="en-US" altLang="zh-CN" sz="28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</a:rPr>
              <a:t>Brenner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pic>
        <p:nvPicPr>
          <p:cNvPr id="16" name="Picture 18" descr="See the source ima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27654" y="4509120"/>
            <a:ext cx="1546225" cy="2160587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1002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4"/>
          <p:cNvSpPr txBox="1">
            <a:spLocks noChangeArrowheads="1"/>
          </p:cNvSpPr>
          <p:nvPr/>
        </p:nvSpPr>
        <p:spPr bwMode="auto">
          <a:xfrm>
            <a:off x="609600" y="1412875"/>
            <a:ext cx="10971213" cy="499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2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2000" kern="1200">
                <a:solidFill>
                  <a:srgbClr val="0000CC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 smtClean="0">
                <a:solidFill>
                  <a:srgbClr val="C00000"/>
                </a:solidFill>
                <a:ea typeface="黑体" panose="02010609060101010101" pitchFamily="49" charset="-122"/>
              </a:rPr>
              <a:t>Non-conventional technology in our lab</a:t>
            </a:r>
            <a:endParaRPr lang="zh-CN" altLang="en-US" sz="2800" b="1" dirty="0" smtClean="0">
              <a:solidFill>
                <a:srgbClr val="C00000"/>
              </a:solidFill>
              <a:ea typeface="黑体" panose="02010609060101010101" pitchFamily="49" charset="-122"/>
            </a:endParaRPr>
          </a:p>
          <a:p>
            <a:pPr lvl="1"/>
            <a:r>
              <a:rPr lang="en-US" altLang="zh-CN" sz="2400" b="1" dirty="0" smtClean="0">
                <a:solidFill>
                  <a:srgbClr val="0070C0"/>
                </a:solidFill>
                <a:ea typeface="黑体" panose="02010609060101010101" pitchFamily="49" charset="-122"/>
              </a:rPr>
              <a:t>Microscale, implantable electrical and optical materials and devices</a:t>
            </a:r>
            <a:endParaRPr lang="zh-CN" altLang="en-US" sz="2400" b="1" dirty="0">
              <a:solidFill>
                <a:srgbClr val="0070C0"/>
              </a:solidFill>
              <a:ea typeface="黑体" panose="02010609060101010101" pitchFamily="49" charset="-122"/>
            </a:endParaRPr>
          </a:p>
        </p:txBody>
      </p:sp>
      <p:sp>
        <p:nvSpPr>
          <p:cNvPr id="642050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4000" dirty="0"/>
              <a:t>Implantable Neural Interfaces</a:t>
            </a:r>
            <a:endParaRPr lang="zh-CN" altLang="en-US" sz="4000" dirty="0"/>
          </a:p>
        </p:txBody>
      </p:sp>
      <p:sp>
        <p:nvSpPr>
          <p:cNvPr id="642051" name="Rectangle 13"/>
          <p:cNvSpPr txBox="1">
            <a:spLocks noGrp="1" noChangeArrowheads="1"/>
          </p:cNvSpPr>
          <p:nvPr/>
        </p:nvSpPr>
        <p:spPr bwMode="auto">
          <a:xfrm>
            <a:off x="11566525" y="6381750"/>
            <a:ext cx="62388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r" eaLnBrk="1" hangingPunct="1"/>
            <a:fld id="{4458672B-2F34-4367-876E-07E8C6EADB98}" type="slidenum">
              <a:rPr lang="en-US" altLang="zh-CN" sz="1800">
                <a:ea typeface="MS PGothic" panose="020B0600070205080204" pitchFamily="34" charset="-128"/>
              </a:rPr>
              <a:pPr algn="r" eaLnBrk="1" hangingPunct="1"/>
              <a:t>3</a:t>
            </a:fld>
            <a:endParaRPr lang="en-US" altLang="zh-CN" sz="1800">
              <a:ea typeface="MS PGothic" panose="020B0600070205080204" pitchFamily="34" charset="-128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2212" y="2622846"/>
            <a:ext cx="2392091" cy="3240000"/>
          </a:xfrm>
          <a:prstGeom prst="rect">
            <a:avLst/>
          </a:prstGeom>
        </p:spPr>
      </p:pic>
      <p:pic>
        <p:nvPicPr>
          <p:cNvPr id="19" name="Picture 11" descr="th?id=OI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49652" y="2636912"/>
            <a:ext cx="1800000" cy="145177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 Box 13"/>
          <p:cNvSpPr txBox="1">
            <a:spLocks noChangeArrowheads="1"/>
          </p:cNvSpPr>
          <p:nvPr/>
        </p:nvSpPr>
        <p:spPr bwMode="auto">
          <a:xfrm>
            <a:off x="4889327" y="5949280"/>
            <a:ext cx="30780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="1" dirty="0" smtClean="0">
                <a:solidFill>
                  <a:srgbClr val="C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Fundamental Discovery</a:t>
            </a:r>
            <a:endParaRPr lang="zh-CN" altLang="en-US" b="1" dirty="0">
              <a:solidFill>
                <a:srgbClr val="C00000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Text Box 15"/>
          <p:cNvSpPr txBox="1">
            <a:spLocks noChangeArrowheads="1"/>
          </p:cNvSpPr>
          <p:nvPr/>
        </p:nvSpPr>
        <p:spPr bwMode="auto">
          <a:xfrm>
            <a:off x="3646934" y="3543399"/>
            <a:ext cx="13484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0070C0"/>
                </a:solidFill>
                <a:ea typeface="微软雅黑" panose="020B0503020204020204" pitchFamily="34" charset="-122"/>
              </a:rPr>
              <a:t>Science</a:t>
            </a:r>
            <a:endParaRPr lang="zh-CN" altLang="en-US" sz="2400" b="1" dirty="0">
              <a:solidFill>
                <a:srgbClr val="0070C0"/>
              </a:solidFill>
              <a:ea typeface="微软雅黑" panose="020B0503020204020204" pitchFamily="34" charset="-122"/>
            </a:endParaRPr>
          </a:p>
        </p:txBody>
      </p:sp>
      <p:sp>
        <p:nvSpPr>
          <p:cNvPr id="24" name="右箭头 23"/>
          <p:cNvSpPr/>
          <p:nvPr/>
        </p:nvSpPr>
        <p:spPr bwMode="auto">
          <a:xfrm>
            <a:off x="3699236" y="3965973"/>
            <a:ext cx="1368000" cy="471139"/>
          </a:xfrm>
          <a:prstGeom prst="rightArrow">
            <a:avLst>
              <a:gd name="adj1" fmla="val 45537"/>
              <a:gd name="adj2" fmla="val 87936"/>
            </a:avLst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200" b="1" i="0" u="none" strike="noStrike" normalizeH="0" smtClean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a typeface="微软雅黑" panose="020B0503020204020204" pitchFamily="34" charset="-122"/>
              <a:cs typeface="Arial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00770" y="2602784"/>
            <a:ext cx="1800000" cy="145160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7" name="右箭头 26"/>
          <p:cNvSpPr/>
          <p:nvPr/>
        </p:nvSpPr>
        <p:spPr bwMode="auto">
          <a:xfrm>
            <a:off x="7751542" y="3965973"/>
            <a:ext cx="1368000" cy="471139"/>
          </a:xfrm>
          <a:prstGeom prst="rightArrow">
            <a:avLst>
              <a:gd name="adj1" fmla="val 45537"/>
              <a:gd name="adj2" fmla="val 87936"/>
            </a:avLst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200" b="1" i="0" u="none" strike="noStrike" normalizeH="0" smtClean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a typeface="微软雅黑" panose="020B0503020204020204" pitchFamily="34" charset="-122"/>
              <a:cs typeface="Arial" charset="0"/>
            </a:endParaRPr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334718" y="5868561"/>
            <a:ext cx="360707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84887"/>
              </a:buClr>
              <a:buSzPct val="120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200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dirty="0" smtClean="0">
                <a:solidFill>
                  <a:srgbClr val="CC0000"/>
                </a:solidFill>
              </a:rPr>
              <a:t>X. Sheng, et al.,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de-DE" altLang="zh-CN" sz="1600" b="1" i="1" dirty="0" smtClean="0">
                <a:solidFill>
                  <a:srgbClr val="CC0000"/>
                </a:solidFill>
              </a:rPr>
              <a:t>Chin. J. Lasers</a:t>
            </a:r>
            <a:r>
              <a:rPr lang="de-DE" altLang="zh-CN" sz="1600" b="1" dirty="0" smtClean="0">
                <a:solidFill>
                  <a:srgbClr val="CC0000"/>
                </a:solidFill>
              </a:rPr>
              <a:t> </a:t>
            </a:r>
            <a:r>
              <a:rPr lang="de-DE" altLang="zh-CN" sz="1600" b="1" dirty="0" smtClean="0">
                <a:solidFill>
                  <a:srgbClr val="CC0000"/>
                </a:solidFill>
                <a:ea typeface="MS PGothic" panose="020B0600070205080204" pitchFamily="34" charset="-128"/>
              </a:rPr>
              <a:t>50</a:t>
            </a:r>
            <a:r>
              <a:rPr lang="de-DE" altLang="zh-CN" sz="1600" b="1" dirty="0">
                <a:solidFill>
                  <a:srgbClr val="CC0000"/>
                </a:solidFill>
                <a:ea typeface="MS PGothic" panose="020B0600070205080204" pitchFamily="34" charset="-128"/>
              </a:rPr>
              <a:t>, 0907301 (2023)</a:t>
            </a:r>
          </a:p>
        </p:txBody>
      </p:sp>
      <p:pic>
        <p:nvPicPr>
          <p:cNvPr id="29" name="Picture 7" descr="960x0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00770" y="4280770"/>
            <a:ext cx="1800000" cy="1667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6" descr="th?id=OIP"/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47334" y="4474498"/>
            <a:ext cx="1800000" cy="1350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 Box 15"/>
          <p:cNvSpPr txBox="1">
            <a:spLocks noChangeArrowheads="1"/>
          </p:cNvSpPr>
          <p:nvPr/>
        </p:nvSpPr>
        <p:spPr bwMode="auto">
          <a:xfrm>
            <a:off x="7477111" y="3543399"/>
            <a:ext cx="18582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0070C0"/>
                </a:solidFill>
                <a:ea typeface="微软雅黑" panose="020B0503020204020204" pitchFamily="34" charset="-122"/>
              </a:rPr>
              <a:t>Application</a:t>
            </a:r>
            <a:endParaRPr lang="zh-CN" altLang="en-US" sz="2400" b="1" dirty="0">
              <a:solidFill>
                <a:srgbClr val="0070C0"/>
              </a:solidFill>
              <a:ea typeface="微软雅黑" panose="020B0503020204020204" pitchFamily="34" charset="-122"/>
            </a:endParaRPr>
          </a:p>
        </p:txBody>
      </p:sp>
      <p:sp>
        <p:nvSpPr>
          <p:cNvPr id="33" name="Text Box 13"/>
          <p:cNvSpPr txBox="1">
            <a:spLocks noChangeArrowheads="1"/>
          </p:cNvSpPr>
          <p:nvPr/>
        </p:nvSpPr>
        <p:spPr bwMode="auto">
          <a:xfrm>
            <a:off x="9263558" y="5949280"/>
            <a:ext cx="24481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="1" dirty="0" smtClean="0">
                <a:solidFill>
                  <a:srgbClr val="C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Clinics &amp; Medicine</a:t>
            </a:r>
            <a:endParaRPr lang="zh-CN" altLang="en-US" b="1" dirty="0">
              <a:solidFill>
                <a:srgbClr val="C00000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13"/>
          <p:cNvSpPr txBox="1">
            <a:spLocks noGrp="1" noChangeArrowheads="1"/>
          </p:cNvSpPr>
          <p:nvPr/>
        </p:nvSpPr>
        <p:spPr bwMode="auto">
          <a:xfrm>
            <a:off x="11277600" y="6381750"/>
            <a:ext cx="91281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84887"/>
              </a:buClr>
              <a:buSzPct val="120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200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E11856-CA97-4A44-968F-77FAB07ADB83}" type="slidenum"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52393" y="4686235"/>
            <a:ext cx="17764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Microscale</a:t>
            </a:r>
            <a:endParaRPr lang="en-US" altLang="zh-CN" sz="2400" b="1" dirty="0">
              <a:solidFill>
                <a:srgbClr val="0070C0"/>
              </a:solidFill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Devices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297406" y="4686234"/>
            <a:ext cx="14526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Neural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Systems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47651" y="3670440"/>
            <a:ext cx="2880003" cy="2880000"/>
          </a:xfrm>
          <a:prstGeom prst="roundRect">
            <a:avLst>
              <a:gd name="adj" fmla="val 4944"/>
            </a:avLst>
          </a:prstGeom>
          <a:ln w="12700">
            <a:solidFill>
              <a:schemeClr val="tx1"/>
            </a:solidFill>
          </a:ln>
        </p:spPr>
      </p:pic>
      <p:pic>
        <p:nvPicPr>
          <p:cNvPr id="18" name="Picture 8" descr="brain1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87294" y="1384108"/>
            <a:ext cx="225176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左右箭头 18"/>
          <p:cNvSpPr/>
          <p:nvPr/>
        </p:nvSpPr>
        <p:spPr bwMode="auto">
          <a:xfrm>
            <a:off x="5136594" y="1960172"/>
            <a:ext cx="1745848" cy="492724"/>
          </a:xfrm>
          <a:prstGeom prst="leftRightArrow">
            <a:avLst>
              <a:gd name="adj1" fmla="val 38535"/>
              <a:gd name="adj2" fmla="val 67197"/>
            </a:avLst>
          </a:prstGeom>
          <a:solidFill>
            <a:srgbClr val="00AF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  <a:cs typeface="Arial" charset="0"/>
            </a:endParaRPr>
          </a:p>
        </p:txBody>
      </p:sp>
      <p:sp>
        <p:nvSpPr>
          <p:cNvPr id="21" name="乘号 20"/>
          <p:cNvSpPr/>
          <p:nvPr/>
        </p:nvSpPr>
        <p:spPr bwMode="auto">
          <a:xfrm>
            <a:off x="5660276" y="1744148"/>
            <a:ext cx="698484" cy="1003334"/>
          </a:xfrm>
          <a:prstGeom prst="mathMultiply">
            <a:avLst>
              <a:gd name="adj1" fmla="val 15457"/>
            </a:avLst>
          </a:prstGeom>
          <a:solidFill>
            <a:srgbClr val="C000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  <a:cs typeface="Arial" charset="0"/>
            </a:endParaRPr>
          </a:p>
        </p:txBody>
      </p:sp>
      <p:sp>
        <p:nvSpPr>
          <p:cNvPr id="28" name="Text Box 16"/>
          <p:cNvSpPr txBox="1">
            <a:spLocks noChangeArrowheads="1"/>
          </p:cNvSpPr>
          <p:nvPr/>
        </p:nvSpPr>
        <p:spPr bwMode="auto">
          <a:xfrm>
            <a:off x="869886" y="1910230"/>
            <a:ext cx="219628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 smtClean="0">
                <a:solidFill>
                  <a:schemeClr val="tx1"/>
                </a:solidFill>
                <a:ea typeface="微软雅黑" panose="020B0503020204020204" pitchFamily="34" charset="-122"/>
              </a:rPr>
              <a:t>conventional devices</a:t>
            </a: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9" name="Text Box 16"/>
          <p:cNvSpPr txBox="1">
            <a:spLocks noChangeArrowheads="1"/>
          </p:cNvSpPr>
          <p:nvPr/>
        </p:nvSpPr>
        <p:spPr bwMode="auto">
          <a:xfrm>
            <a:off x="9335566" y="1910230"/>
            <a:ext cx="91658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brain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 smtClean="0">
                <a:solidFill>
                  <a:schemeClr val="tx1"/>
                </a:solidFill>
                <a:ea typeface="微软雅黑" panose="020B0503020204020204" pitchFamily="34" charset="-122"/>
              </a:rPr>
              <a:t>tissue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8138" y="1437791"/>
            <a:ext cx="1933241" cy="15768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00D28B14-19DD-4D80-AF88-6EC293D7886B}"/>
              </a:ext>
            </a:extLst>
          </p:cNvPr>
          <p:cNvCxnSpPr/>
          <p:nvPr/>
        </p:nvCxnSpPr>
        <p:spPr bwMode="auto">
          <a:xfrm>
            <a:off x="4461035" y="3184108"/>
            <a:ext cx="440344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0DDA6E65-88CE-45B6-AB57-AFE14ABA6ED9}"/>
              </a:ext>
            </a:extLst>
          </p:cNvPr>
          <p:cNvSpPr txBox="1"/>
          <p:nvPr/>
        </p:nvSpPr>
        <p:spPr>
          <a:xfrm>
            <a:off x="3640383" y="3035538"/>
            <a:ext cx="8531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smtClean="0">
                <a:solidFill>
                  <a:schemeClr val="tx1"/>
                </a:solidFill>
              </a:rPr>
              <a:t>100 mm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33" name="Text Box 16"/>
          <p:cNvSpPr txBox="1">
            <a:spLocks noChangeArrowheads="1"/>
          </p:cNvSpPr>
          <p:nvPr/>
        </p:nvSpPr>
        <p:spPr bwMode="auto">
          <a:xfrm>
            <a:off x="5260542" y="1516722"/>
            <a:ext cx="14107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 smtClean="0">
                <a:solidFill>
                  <a:schemeClr val="tx1"/>
                </a:solidFill>
                <a:ea typeface="微软雅黑" panose="020B0503020204020204" pitchFamily="34" charset="-122"/>
              </a:rPr>
              <a:t>mismatch</a:t>
            </a:r>
            <a:endParaRPr kumimoji="0" lang="en-US" altLang="zh-CN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4" name="Text Box 15"/>
          <p:cNvSpPr txBox="1">
            <a:spLocks noChangeArrowheads="1"/>
          </p:cNvSpPr>
          <p:nvPr/>
        </p:nvSpPr>
        <p:spPr bwMode="auto">
          <a:xfrm>
            <a:off x="5377881" y="5635043"/>
            <a:ext cx="13468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C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sensing</a:t>
            </a:r>
            <a:endParaRPr lang="zh-CN" altLang="en-US" sz="2400" b="1" dirty="0">
              <a:solidFill>
                <a:srgbClr val="C00000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5178376" y="4623805"/>
            <a:ext cx="1745848" cy="1008112"/>
            <a:chOff x="3618240" y="2041314"/>
            <a:chExt cx="2033880" cy="1166799"/>
          </a:xfrm>
        </p:grpSpPr>
        <p:sp>
          <p:nvSpPr>
            <p:cNvPr id="36" name="右箭头 35"/>
            <p:cNvSpPr/>
            <p:nvPr/>
          </p:nvSpPr>
          <p:spPr bwMode="auto">
            <a:xfrm flipH="1">
              <a:off x="3618240" y="2736974"/>
              <a:ext cx="1946735" cy="471139"/>
            </a:xfrm>
            <a:prstGeom prst="rightArrow">
              <a:avLst>
                <a:gd name="adj1" fmla="val 45537"/>
                <a:gd name="adj2" fmla="val 87936"/>
              </a:avLst>
            </a:prstGeom>
            <a:solidFill>
              <a:srgbClr val="00B0F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820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200" b="1" i="0" u="none" strike="noStrike" normalizeH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微软雅黑" panose="020B0503020204020204" pitchFamily="34" charset="-122"/>
                <a:cs typeface="Arial" charset="0"/>
              </a:endParaRPr>
            </a:p>
          </p:txBody>
        </p:sp>
        <p:sp>
          <p:nvSpPr>
            <p:cNvPr id="37" name="右箭头 36"/>
            <p:cNvSpPr/>
            <p:nvPr/>
          </p:nvSpPr>
          <p:spPr bwMode="auto">
            <a:xfrm>
              <a:off x="3705385" y="2041314"/>
              <a:ext cx="1946735" cy="471139"/>
            </a:xfrm>
            <a:prstGeom prst="rightArrow">
              <a:avLst>
                <a:gd name="adj1" fmla="val 45537"/>
                <a:gd name="adj2" fmla="val 87936"/>
              </a:avLst>
            </a:prstGeom>
            <a:solidFill>
              <a:srgbClr val="00B0F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820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200" b="1" i="0" u="none" strike="noStrike" normalizeH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微软雅黑" panose="020B0503020204020204" pitchFamily="34" charset="-122"/>
                <a:cs typeface="Arial" charset="0"/>
              </a:endParaRPr>
            </a:p>
          </p:txBody>
        </p:sp>
      </p:grpSp>
      <p:sp>
        <p:nvSpPr>
          <p:cNvPr id="38" name="Text Box 15"/>
          <p:cNvSpPr txBox="1">
            <a:spLocks noChangeArrowheads="1"/>
          </p:cNvSpPr>
          <p:nvPr/>
        </p:nvSpPr>
        <p:spPr bwMode="auto">
          <a:xfrm>
            <a:off x="5131019" y="4234148"/>
            <a:ext cx="18405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C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modulation</a:t>
            </a:r>
            <a:endParaRPr lang="zh-CN" altLang="en-US" sz="2400" b="1" dirty="0">
              <a:solidFill>
                <a:srgbClr val="C00000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2062758" y="3670048"/>
            <a:ext cx="2880000" cy="2880000"/>
            <a:chOff x="2062758" y="3670048"/>
            <a:chExt cx="2880000" cy="2880000"/>
          </a:xfrm>
        </p:grpSpPr>
        <p:sp>
          <p:nvSpPr>
            <p:cNvPr id="40" name="AutoShape 6"/>
            <p:cNvSpPr>
              <a:spLocks noChangeAspect="1" noChangeArrowheads="1"/>
            </p:cNvSpPr>
            <p:nvPr/>
          </p:nvSpPr>
          <p:spPr bwMode="auto">
            <a:xfrm>
              <a:off x="2062758" y="3670048"/>
              <a:ext cx="2880000" cy="2880000"/>
            </a:xfrm>
            <a:prstGeom prst="roundRect">
              <a:avLst>
                <a:gd name="adj" fmla="val 4356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84887"/>
                </a:buClr>
                <a:buSzPct val="120000"/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990000"/>
                </a:buClr>
                <a:buSzPct val="60000"/>
                <a:buFont typeface="Wingdings" panose="05000000000000000000" pitchFamily="2" charset="2"/>
                <a:buChar char="r"/>
                <a:defRPr sz="200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84887"/>
                </a:buClr>
                <a:buSzPct val="11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90000"/>
                </a:buClr>
                <a:buSzPct val="60000"/>
                <a:buFont typeface="Wingdings" panose="05000000000000000000" pitchFamily="2" charset="2"/>
                <a:buChar char="r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84887"/>
                </a:buClr>
                <a:buSzPct val="11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84887"/>
                </a:buClr>
                <a:buSzPct val="11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84887"/>
                </a:buClr>
                <a:buSzPct val="11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84887"/>
                </a:buClr>
                <a:buSzPct val="11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84887"/>
                </a:buClr>
                <a:buSzPct val="11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>
                <a:solidFill>
                  <a:srgbClr val="0000CC"/>
                </a:solidFill>
              </a:endParaRPr>
            </a:p>
          </p:txBody>
        </p:sp>
        <p:pic>
          <p:nvPicPr>
            <p:cNvPr id="41" name="图片 215"/>
            <p:cNvPicPr>
              <a:picLocks/>
            </p:cNvPicPr>
            <p:nvPr>
              <p:custDataLst>
                <p:tags r:id="rId1"/>
              </p:custDataLst>
            </p:nvPr>
          </p:nvPicPr>
          <p:blipFill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0905"/>
            <a:stretch/>
          </p:blipFill>
          <p:spPr>
            <a:xfrm rot="16200000">
              <a:off x="1980274" y="3996180"/>
              <a:ext cx="1459199" cy="105600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</p:pic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B2187BE8-FFEF-F374-0B99-9814B51C15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179993" y="5346384"/>
              <a:ext cx="1364507" cy="1088404"/>
            </a:xfrm>
            <a:prstGeom prst="rect">
              <a:avLst/>
            </a:prstGeom>
          </p:spPr>
        </p:pic>
        <p:pic>
          <p:nvPicPr>
            <p:cNvPr id="43" name="图片 42"/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6965" t="29000" r="17931" b="-1"/>
            <a:stretch/>
          </p:blipFill>
          <p:spPr>
            <a:xfrm rot="16200000">
              <a:off x="3569259" y="3633923"/>
              <a:ext cx="1101129" cy="1422443"/>
            </a:xfrm>
            <a:prstGeom prst="rect">
              <a:avLst/>
            </a:prstGeom>
          </p:spPr>
        </p:pic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00D28B14-19DD-4D80-AF88-6EC293D7886B}"/>
                </a:ext>
              </a:extLst>
            </p:cNvPr>
            <p:cNvCxnSpPr/>
            <p:nvPr/>
          </p:nvCxnSpPr>
          <p:spPr bwMode="auto">
            <a:xfrm>
              <a:off x="2276868" y="3942112"/>
              <a:ext cx="130382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DDA6E65-88CE-45B6-AB57-AFE14ABA6ED9}"/>
                </a:ext>
              </a:extLst>
            </p:cNvPr>
            <p:cNvSpPr txBox="1"/>
            <p:nvPr/>
          </p:nvSpPr>
          <p:spPr>
            <a:xfrm>
              <a:off x="2411461" y="3789040"/>
              <a:ext cx="8034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smtClean="0">
                  <a:solidFill>
                    <a:schemeClr val="tx1"/>
                  </a:solidFill>
                </a:rPr>
                <a:t>0.1 mm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pic>
          <p:nvPicPr>
            <p:cNvPr id="46" name="图片 45"/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1" r="2278" b="9302"/>
            <a:stretch/>
          </p:blipFill>
          <p:spPr>
            <a:xfrm>
              <a:off x="3870614" y="5073988"/>
              <a:ext cx="928448" cy="1360800"/>
            </a:xfrm>
            <a:prstGeom prst="rect">
              <a:avLst/>
            </a:prstGeom>
          </p:spPr>
        </p:pic>
      </p:grpSp>
      <p:sp>
        <p:nvSpPr>
          <p:cNvPr id="5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1213" cy="1143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4000" dirty="0"/>
              <a:t>Implantable Neural Interfaces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212664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13"/>
          <p:cNvSpPr txBox="1">
            <a:spLocks noGrp="1" noChangeArrowheads="1"/>
          </p:cNvSpPr>
          <p:nvPr/>
        </p:nvSpPr>
        <p:spPr bwMode="auto">
          <a:xfrm>
            <a:off x="11277600" y="6381750"/>
            <a:ext cx="91281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84887"/>
              </a:buClr>
              <a:buSzPct val="120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200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E11856-CA97-4A44-968F-77FAB07ADB83}" type="slidenum"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52393" y="4686235"/>
            <a:ext cx="17764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Microscale</a:t>
            </a:r>
            <a:endParaRPr lang="en-US" altLang="zh-CN" sz="2400" b="1" dirty="0">
              <a:solidFill>
                <a:srgbClr val="0070C0"/>
              </a:solidFill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Devices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297406" y="4686234"/>
            <a:ext cx="14526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Neural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Systems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47651" y="3670440"/>
            <a:ext cx="2880003" cy="2880000"/>
          </a:xfrm>
          <a:prstGeom prst="roundRect">
            <a:avLst>
              <a:gd name="adj" fmla="val 4944"/>
            </a:avLst>
          </a:prstGeom>
          <a:ln w="12700">
            <a:solidFill>
              <a:schemeClr val="tx1"/>
            </a:solidFill>
          </a:ln>
        </p:spPr>
      </p:pic>
      <p:sp>
        <p:nvSpPr>
          <p:cNvPr id="37" name="右箭头 36"/>
          <p:cNvSpPr/>
          <p:nvPr/>
        </p:nvSpPr>
        <p:spPr bwMode="auto">
          <a:xfrm>
            <a:off x="5253179" y="4623804"/>
            <a:ext cx="1671044" cy="407063"/>
          </a:xfrm>
          <a:prstGeom prst="rightArrow">
            <a:avLst>
              <a:gd name="adj1" fmla="val 45537"/>
              <a:gd name="adj2" fmla="val 87936"/>
            </a:avLst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200" b="1" i="0" u="none" strike="noStrike" normalizeH="0" smtClean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a typeface="微软雅黑" panose="020B0503020204020204" pitchFamily="34" charset="-122"/>
              <a:cs typeface="Arial" charset="0"/>
            </a:endParaRPr>
          </a:p>
        </p:txBody>
      </p:sp>
      <p:sp>
        <p:nvSpPr>
          <p:cNvPr id="38" name="Text Box 15"/>
          <p:cNvSpPr txBox="1">
            <a:spLocks noChangeArrowheads="1"/>
          </p:cNvSpPr>
          <p:nvPr/>
        </p:nvSpPr>
        <p:spPr bwMode="auto">
          <a:xfrm>
            <a:off x="5131019" y="4234148"/>
            <a:ext cx="18405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C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modulation</a:t>
            </a:r>
            <a:endParaRPr lang="zh-CN" altLang="en-US" sz="2400" b="1" dirty="0">
              <a:solidFill>
                <a:srgbClr val="C00000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2062758" y="3670048"/>
            <a:ext cx="2880000" cy="2880000"/>
            <a:chOff x="2062758" y="3670048"/>
            <a:chExt cx="2880000" cy="2880000"/>
          </a:xfrm>
        </p:grpSpPr>
        <p:sp>
          <p:nvSpPr>
            <p:cNvPr id="40" name="AutoShape 6"/>
            <p:cNvSpPr>
              <a:spLocks noChangeAspect="1" noChangeArrowheads="1"/>
            </p:cNvSpPr>
            <p:nvPr/>
          </p:nvSpPr>
          <p:spPr bwMode="auto">
            <a:xfrm>
              <a:off x="2062758" y="3670048"/>
              <a:ext cx="2880000" cy="2880000"/>
            </a:xfrm>
            <a:prstGeom prst="roundRect">
              <a:avLst>
                <a:gd name="adj" fmla="val 4356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84887"/>
                </a:buClr>
                <a:buSzPct val="120000"/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990000"/>
                </a:buClr>
                <a:buSzPct val="60000"/>
                <a:buFont typeface="Wingdings" panose="05000000000000000000" pitchFamily="2" charset="2"/>
                <a:buChar char="r"/>
                <a:defRPr sz="200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84887"/>
                </a:buClr>
                <a:buSzPct val="11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90000"/>
                </a:buClr>
                <a:buSzPct val="60000"/>
                <a:buFont typeface="Wingdings" panose="05000000000000000000" pitchFamily="2" charset="2"/>
                <a:buChar char="r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84887"/>
                </a:buClr>
                <a:buSzPct val="11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84887"/>
                </a:buClr>
                <a:buSzPct val="11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84887"/>
                </a:buClr>
                <a:buSzPct val="11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84887"/>
                </a:buClr>
                <a:buSzPct val="11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84887"/>
                </a:buClr>
                <a:buSzPct val="11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>
                <a:solidFill>
                  <a:srgbClr val="0000CC"/>
                </a:solidFill>
              </a:endParaRPr>
            </a:p>
          </p:txBody>
        </p:sp>
        <p:pic>
          <p:nvPicPr>
            <p:cNvPr id="41" name="图片 215"/>
            <p:cNvPicPr>
              <a:picLocks/>
            </p:cNvPicPr>
            <p:nvPr>
              <p:custDataLst>
                <p:tags r:id="rId1"/>
              </p:custDataLst>
            </p:nvPr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0905"/>
            <a:stretch/>
          </p:blipFill>
          <p:spPr>
            <a:xfrm rot="16200000">
              <a:off x="1980274" y="3996180"/>
              <a:ext cx="1459199" cy="105600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</p:pic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B2187BE8-FFEF-F374-0B99-9814B51C15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179993" y="5346384"/>
              <a:ext cx="1364507" cy="1088404"/>
            </a:xfrm>
            <a:prstGeom prst="rect">
              <a:avLst/>
            </a:prstGeom>
          </p:spPr>
        </p:pic>
        <p:pic>
          <p:nvPicPr>
            <p:cNvPr id="43" name="图片 42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6965" t="29000" r="17931" b="-1"/>
            <a:stretch/>
          </p:blipFill>
          <p:spPr>
            <a:xfrm rot="16200000">
              <a:off x="3569259" y="3633923"/>
              <a:ext cx="1101129" cy="1422443"/>
            </a:xfrm>
            <a:prstGeom prst="rect">
              <a:avLst/>
            </a:prstGeom>
          </p:spPr>
        </p:pic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00D28B14-19DD-4D80-AF88-6EC293D7886B}"/>
                </a:ext>
              </a:extLst>
            </p:cNvPr>
            <p:cNvCxnSpPr/>
            <p:nvPr/>
          </p:nvCxnSpPr>
          <p:spPr bwMode="auto">
            <a:xfrm>
              <a:off x="2276868" y="3942112"/>
              <a:ext cx="130382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DDA6E65-88CE-45B6-AB57-AFE14ABA6ED9}"/>
                </a:ext>
              </a:extLst>
            </p:cNvPr>
            <p:cNvSpPr txBox="1"/>
            <p:nvPr/>
          </p:nvSpPr>
          <p:spPr>
            <a:xfrm>
              <a:off x="2411461" y="3789040"/>
              <a:ext cx="8034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smtClean="0">
                  <a:solidFill>
                    <a:schemeClr val="tx1"/>
                  </a:solidFill>
                </a:rPr>
                <a:t>0.1 mm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pic>
          <p:nvPicPr>
            <p:cNvPr id="46" name="图片 45"/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1" r="2278" b="9302"/>
            <a:stretch/>
          </p:blipFill>
          <p:spPr>
            <a:xfrm>
              <a:off x="3870614" y="5073988"/>
              <a:ext cx="928448" cy="1360800"/>
            </a:xfrm>
            <a:prstGeom prst="rect">
              <a:avLst/>
            </a:prstGeom>
          </p:spPr>
        </p:pic>
      </p:grpSp>
      <p:sp>
        <p:nvSpPr>
          <p:cNvPr id="5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1213" cy="1143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4000" dirty="0"/>
              <a:t>Implantable Neural Interfaces</a:t>
            </a:r>
            <a:endParaRPr lang="zh-CN" altLang="en-US" sz="4000" dirty="0"/>
          </a:p>
        </p:txBody>
      </p:sp>
      <p:sp>
        <p:nvSpPr>
          <p:cNvPr id="47" name="Text Box 26"/>
          <p:cNvSpPr txBox="1">
            <a:spLocks noChangeArrowheads="1"/>
          </p:cNvSpPr>
          <p:nvPr/>
        </p:nvSpPr>
        <p:spPr bwMode="auto">
          <a:xfrm>
            <a:off x="604433" y="1383962"/>
            <a:ext cx="5996572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84887"/>
              </a:buClr>
              <a:buSzPct val="120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200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Optogenetic stimulation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2000" dirty="0">
              <a:solidFill>
                <a:srgbClr val="0000FF"/>
              </a:solidFill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Optical based non-genetic stimulation</a:t>
            </a:r>
          </a:p>
        </p:txBody>
      </p:sp>
      <p:sp>
        <p:nvSpPr>
          <p:cNvPr id="48" name="Rectangle 17"/>
          <p:cNvSpPr>
            <a:spLocks noChangeArrowheads="1"/>
          </p:cNvSpPr>
          <p:nvPr/>
        </p:nvSpPr>
        <p:spPr bwMode="auto">
          <a:xfrm>
            <a:off x="7175326" y="2643713"/>
            <a:ext cx="285366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84887"/>
              </a:buClr>
              <a:buSzPct val="120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200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zh-CN" sz="16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</a:rPr>
              <a:t>Nature </a:t>
            </a:r>
            <a:r>
              <a:rPr kumimoji="0" lang="de-DE" altLang="zh-CN" sz="1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</a:rPr>
              <a:t>Biomed. </a:t>
            </a:r>
            <a:r>
              <a:rPr kumimoji="0" lang="de-DE" altLang="zh-CN" sz="1600" b="1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</a:rPr>
              <a:t>Eng.</a:t>
            </a:r>
            <a:r>
              <a:rPr kumimoji="0" lang="de-DE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ea typeface="MS PGothic" panose="020B0600070205080204" pitchFamily="34" charset="-128"/>
              </a:rPr>
              <a:t> (</a:t>
            </a:r>
            <a:r>
              <a:rPr kumimoji="0" lang="de-DE" altLang="zh-CN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ea typeface="MS PGothic" panose="020B0600070205080204" pitchFamily="34" charset="-128"/>
              </a:rPr>
              <a:t>2023)</a:t>
            </a:r>
          </a:p>
          <a:p>
            <a:pPr lvl="0" eaLnBrk="1" hangingPunct="1">
              <a:spcBef>
                <a:spcPct val="0"/>
              </a:spcBef>
              <a:buClrTx/>
              <a:buSzTx/>
              <a:buNone/>
              <a:defRPr/>
            </a:pPr>
            <a:r>
              <a:rPr lang="de-DE" altLang="zh-CN" sz="1600" b="1" i="1" dirty="0" smtClean="0">
                <a:solidFill>
                  <a:srgbClr val="CC0000"/>
                </a:solidFill>
              </a:rPr>
              <a:t>Science Advances</a:t>
            </a:r>
            <a:r>
              <a:rPr lang="de-DE" altLang="zh-CN" sz="1600" b="1" dirty="0" smtClean="0">
                <a:solidFill>
                  <a:srgbClr val="CC0000"/>
                </a:solidFill>
                <a:ea typeface="MS PGothic" panose="020B0600070205080204" pitchFamily="34" charset="-128"/>
              </a:rPr>
              <a:t> </a:t>
            </a:r>
            <a:r>
              <a:rPr lang="de-DE" altLang="zh-CN" sz="1600" b="1" dirty="0">
                <a:solidFill>
                  <a:srgbClr val="CC0000"/>
                </a:solidFill>
                <a:ea typeface="MS PGothic" panose="020B0600070205080204" pitchFamily="34" charset="-128"/>
              </a:rPr>
              <a:t>(2023</a:t>
            </a:r>
            <a:r>
              <a:rPr lang="de-DE" altLang="zh-CN" sz="1600" b="1" dirty="0" smtClean="0">
                <a:solidFill>
                  <a:srgbClr val="CC0000"/>
                </a:solidFill>
                <a:ea typeface="MS PGothic" panose="020B0600070205080204" pitchFamily="34" charset="-128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lang="en-US" altLang="zh-CN" sz="1600" b="1" i="1" dirty="0" smtClean="0">
                <a:solidFill>
                  <a:srgbClr val="CC0000"/>
                </a:solidFill>
              </a:rPr>
              <a:t>PNAS</a:t>
            </a:r>
            <a:r>
              <a:rPr lang="de-DE" altLang="zh-CN" sz="1600" b="1" dirty="0" smtClean="0">
                <a:solidFill>
                  <a:srgbClr val="CC0000"/>
                </a:solidFill>
                <a:ea typeface="MS PGothic" panose="020B0600070205080204" pitchFamily="34" charset="-128"/>
              </a:rPr>
              <a:t> </a:t>
            </a:r>
            <a:r>
              <a:rPr lang="de-DE" altLang="zh-CN" sz="1600" b="1" dirty="0">
                <a:solidFill>
                  <a:srgbClr val="CC0000"/>
                </a:solidFill>
                <a:ea typeface="MS PGothic" panose="020B0600070205080204" pitchFamily="34" charset="-128"/>
              </a:rPr>
              <a:t>(</a:t>
            </a:r>
            <a:r>
              <a:rPr lang="de-DE" altLang="zh-CN" sz="1600" b="1" dirty="0" smtClean="0">
                <a:solidFill>
                  <a:srgbClr val="CC0000"/>
                </a:solidFill>
                <a:ea typeface="MS PGothic" panose="020B0600070205080204" pitchFamily="34" charset="-128"/>
              </a:rPr>
              <a:t>2024)</a:t>
            </a:r>
            <a:endParaRPr lang="zh-CN" altLang="en-US" sz="1600" b="1" dirty="0">
              <a:solidFill>
                <a:srgbClr val="CC0000"/>
              </a:solidFill>
              <a:ea typeface="MS PGothic" panose="020B0600070205080204" pitchFamily="34" charset="-128"/>
            </a:endParaRPr>
          </a:p>
        </p:txBody>
      </p:sp>
      <p:sp>
        <p:nvSpPr>
          <p:cNvPr id="49" name="Rectangle 17"/>
          <p:cNvSpPr>
            <a:spLocks noChangeArrowheads="1"/>
          </p:cNvSpPr>
          <p:nvPr/>
        </p:nvSpPr>
        <p:spPr bwMode="auto">
          <a:xfrm>
            <a:off x="7175326" y="1422916"/>
            <a:ext cx="223811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84887"/>
              </a:buClr>
              <a:buSzPct val="120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200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zh-CN" sz="1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Arial" panose="020B0604020202020204" pitchFamily="34" charset="0"/>
              </a:rPr>
              <a:t>PNAS</a:t>
            </a:r>
            <a:r>
              <a:rPr kumimoji="0" lang="de-DE" altLang="zh-CN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de-DE" altLang="zh-CN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Arial" panose="020B0604020202020204" pitchFamily="34" charset="0"/>
              </a:rPr>
              <a:t>(2018)</a:t>
            </a:r>
          </a:p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lang="de-DE" altLang="zh-CN" sz="1600" b="1" i="1" dirty="0">
                <a:solidFill>
                  <a:srgbClr val="CC0000"/>
                </a:solidFill>
                <a:latin typeface="Arial"/>
              </a:rPr>
              <a:t>Nature </a:t>
            </a:r>
            <a:r>
              <a:rPr lang="en-US" altLang="zh-CN" sz="1600" b="1" i="1" dirty="0">
                <a:solidFill>
                  <a:srgbClr val="CC0000"/>
                </a:solidFill>
                <a:latin typeface="Arial"/>
              </a:rPr>
              <a:t>Comm.</a:t>
            </a:r>
            <a:r>
              <a:rPr lang="de-DE" altLang="zh-CN" sz="1600" b="1" dirty="0">
                <a:solidFill>
                  <a:srgbClr val="CC0000"/>
                </a:solidFill>
                <a:latin typeface="Arial"/>
                <a:ea typeface="MS PGothic" panose="020B0600070205080204" pitchFamily="34" charset="-128"/>
              </a:rPr>
              <a:t> (2022</a:t>
            </a:r>
            <a:r>
              <a:rPr lang="de-DE" altLang="zh-CN" sz="1600" b="1" dirty="0" smtClean="0">
                <a:solidFill>
                  <a:srgbClr val="CC0000"/>
                </a:solidFill>
                <a:latin typeface="Arial"/>
                <a:ea typeface="MS PGothic" panose="020B0600070205080204" pitchFamily="34" charset="-128"/>
              </a:rPr>
              <a:t>)</a:t>
            </a:r>
            <a:endParaRPr kumimoji="0" lang="en-US" altLang="zh-CN" sz="1600" b="1" i="1" u="none" strike="noStrike" kern="1200" cap="none" spc="0" normalizeH="0" baseline="0" noProof="0" dirty="0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ea typeface="MS PGothic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ea typeface="MS PGothic" panose="020B0600070205080204" pitchFamily="34" charset="-128"/>
                <a:cs typeface="Arial" panose="020B0604020202020204" pitchFamily="34" charset="0"/>
              </a:rPr>
              <a:t>iScience</a:t>
            </a:r>
            <a:r>
              <a:rPr kumimoji="0" lang="en-US" altLang="zh-CN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ea typeface="MS PGothic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ea typeface="MS PGothic" panose="020B0600070205080204" pitchFamily="34" charset="-128"/>
                <a:cs typeface="Arial" panose="020B0604020202020204" pitchFamily="34" charset="0"/>
              </a:rPr>
              <a:t>(2022)</a:t>
            </a:r>
            <a:endParaRPr kumimoji="0" lang="de-DE" altLang="zh-CN" sz="1600" b="1" i="0" u="none" strike="noStrike" kern="1200" cap="none" spc="0" normalizeH="0" baseline="0" noProof="0" dirty="0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487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13"/>
          <p:cNvSpPr txBox="1">
            <a:spLocks noGrp="1" noChangeArrowheads="1"/>
          </p:cNvSpPr>
          <p:nvPr/>
        </p:nvSpPr>
        <p:spPr bwMode="auto">
          <a:xfrm>
            <a:off x="11277600" y="6381750"/>
            <a:ext cx="91281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84887"/>
              </a:buClr>
              <a:buSzPct val="120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200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E11856-CA97-4A44-968F-77FAB07ADB83}" type="slidenum"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52393" y="4686235"/>
            <a:ext cx="17764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Microscale</a:t>
            </a:r>
            <a:endParaRPr lang="en-US" altLang="zh-CN" sz="2400" b="1" dirty="0">
              <a:solidFill>
                <a:srgbClr val="0070C0"/>
              </a:solidFill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Devices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297406" y="4686234"/>
            <a:ext cx="14526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Neural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Systems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47651" y="3670440"/>
            <a:ext cx="2880003" cy="2880000"/>
          </a:xfrm>
          <a:prstGeom prst="roundRect">
            <a:avLst>
              <a:gd name="adj" fmla="val 4944"/>
            </a:avLst>
          </a:prstGeom>
          <a:ln w="12700">
            <a:solidFill>
              <a:schemeClr val="tx1"/>
            </a:solidFill>
          </a:ln>
        </p:spPr>
      </p:pic>
      <p:sp>
        <p:nvSpPr>
          <p:cNvPr id="34" name="Text Box 15"/>
          <p:cNvSpPr txBox="1">
            <a:spLocks noChangeArrowheads="1"/>
          </p:cNvSpPr>
          <p:nvPr/>
        </p:nvSpPr>
        <p:spPr bwMode="auto">
          <a:xfrm>
            <a:off x="5377881" y="5635043"/>
            <a:ext cx="13468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C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sensing</a:t>
            </a:r>
            <a:endParaRPr lang="zh-CN" altLang="en-US" sz="2400" b="1" dirty="0">
              <a:solidFill>
                <a:srgbClr val="C00000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6" name="右箭头 35"/>
          <p:cNvSpPr/>
          <p:nvPr/>
        </p:nvSpPr>
        <p:spPr bwMode="auto">
          <a:xfrm flipH="1">
            <a:off x="5178376" y="5224853"/>
            <a:ext cx="1671044" cy="407063"/>
          </a:xfrm>
          <a:prstGeom prst="rightArrow">
            <a:avLst>
              <a:gd name="adj1" fmla="val 45537"/>
              <a:gd name="adj2" fmla="val 87936"/>
            </a:avLst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820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200" b="1" i="0" u="none" strike="noStrike" normalizeH="0" smtClean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a typeface="微软雅黑" panose="020B0503020204020204" pitchFamily="34" charset="-122"/>
              <a:cs typeface="Arial" charset="0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2062758" y="3670048"/>
            <a:ext cx="2880000" cy="2880000"/>
            <a:chOff x="2062758" y="3670048"/>
            <a:chExt cx="2880000" cy="2880000"/>
          </a:xfrm>
        </p:grpSpPr>
        <p:sp>
          <p:nvSpPr>
            <p:cNvPr id="40" name="AutoShape 6"/>
            <p:cNvSpPr>
              <a:spLocks noChangeAspect="1" noChangeArrowheads="1"/>
            </p:cNvSpPr>
            <p:nvPr/>
          </p:nvSpPr>
          <p:spPr bwMode="auto">
            <a:xfrm>
              <a:off x="2062758" y="3670048"/>
              <a:ext cx="2880000" cy="2880000"/>
            </a:xfrm>
            <a:prstGeom prst="roundRect">
              <a:avLst>
                <a:gd name="adj" fmla="val 4356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84887"/>
                </a:buClr>
                <a:buSzPct val="120000"/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990000"/>
                </a:buClr>
                <a:buSzPct val="60000"/>
                <a:buFont typeface="Wingdings" panose="05000000000000000000" pitchFamily="2" charset="2"/>
                <a:buChar char="r"/>
                <a:defRPr sz="200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84887"/>
                </a:buClr>
                <a:buSzPct val="11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90000"/>
                </a:buClr>
                <a:buSzPct val="60000"/>
                <a:buFont typeface="Wingdings" panose="05000000000000000000" pitchFamily="2" charset="2"/>
                <a:buChar char="r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84887"/>
                </a:buClr>
                <a:buSzPct val="11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84887"/>
                </a:buClr>
                <a:buSzPct val="11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84887"/>
                </a:buClr>
                <a:buSzPct val="11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84887"/>
                </a:buClr>
                <a:buSzPct val="11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84887"/>
                </a:buClr>
                <a:buSzPct val="11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>
                <a:solidFill>
                  <a:srgbClr val="0000CC"/>
                </a:solidFill>
              </a:endParaRPr>
            </a:p>
          </p:txBody>
        </p:sp>
        <p:pic>
          <p:nvPicPr>
            <p:cNvPr id="41" name="图片 215"/>
            <p:cNvPicPr>
              <a:picLocks/>
            </p:cNvPicPr>
            <p:nvPr>
              <p:custDataLst>
                <p:tags r:id="rId1"/>
              </p:custDataLst>
            </p:nvPr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0905"/>
            <a:stretch/>
          </p:blipFill>
          <p:spPr>
            <a:xfrm rot="16200000">
              <a:off x="1980274" y="3996180"/>
              <a:ext cx="1459199" cy="105600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</p:pic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B2187BE8-FFEF-F374-0B99-9814B51C15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179993" y="5346384"/>
              <a:ext cx="1364507" cy="1088404"/>
            </a:xfrm>
            <a:prstGeom prst="rect">
              <a:avLst/>
            </a:prstGeom>
          </p:spPr>
        </p:pic>
        <p:pic>
          <p:nvPicPr>
            <p:cNvPr id="43" name="图片 42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6965" t="29000" r="17931" b="-1"/>
            <a:stretch/>
          </p:blipFill>
          <p:spPr>
            <a:xfrm rot="16200000">
              <a:off x="3569259" y="3633923"/>
              <a:ext cx="1101129" cy="1422443"/>
            </a:xfrm>
            <a:prstGeom prst="rect">
              <a:avLst/>
            </a:prstGeom>
          </p:spPr>
        </p:pic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00D28B14-19DD-4D80-AF88-6EC293D7886B}"/>
                </a:ext>
              </a:extLst>
            </p:cNvPr>
            <p:cNvCxnSpPr/>
            <p:nvPr/>
          </p:nvCxnSpPr>
          <p:spPr bwMode="auto">
            <a:xfrm>
              <a:off x="2276868" y="3942112"/>
              <a:ext cx="130382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DDA6E65-88CE-45B6-AB57-AFE14ABA6ED9}"/>
                </a:ext>
              </a:extLst>
            </p:cNvPr>
            <p:cNvSpPr txBox="1"/>
            <p:nvPr/>
          </p:nvSpPr>
          <p:spPr>
            <a:xfrm>
              <a:off x="2411461" y="3789040"/>
              <a:ext cx="8034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smtClean="0">
                  <a:solidFill>
                    <a:schemeClr val="tx1"/>
                  </a:solidFill>
                </a:rPr>
                <a:t>0.1 mm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pic>
          <p:nvPicPr>
            <p:cNvPr id="46" name="图片 45"/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1" r="2278" b="9302"/>
            <a:stretch/>
          </p:blipFill>
          <p:spPr>
            <a:xfrm>
              <a:off x="3870614" y="5073988"/>
              <a:ext cx="928448" cy="1360800"/>
            </a:xfrm>
            <a:prstGeom prst="rect">
              <a:avLst/>
            </a:prstGeom>
          </p:spPr>
        </p:pic>
      </p:grpSp>
      <p:sp>
        <p:nvSpPr>
          <p:cNvPr id="5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1213" cy="1143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4000" dirty="0"/>
              <a:t>Implantable Neural Interfaces</a:t>
            </a:r>
            <a:endParaRPr lang="zh-CN" altLang="en-US" sz="4000" dirty="0"/>
          </a:p>
        </p:txBody>
      </p:sp>
      <p:sp>
        <p:nvSpPr>
          <p:cNvPr id="47" name="Text Box 26"/>
          <p:cNvSpPr txBox="1">
            <a:spLocks noChangeArrowheads="1"/>
          </p:cNvSpPr>
          <p:nvPr/>
        </p:nvSpPr>
        <p:spPr bwMode="auto">
          <a:xfrm>
            <a:off x="728152" y="1401243"/>
            <a:ext cx="5996572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84887"/>
              </a:buClr>
              <a:buSzPct val="120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200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Ca</a:t>
            </a:r>
            <a:r>
              <a:rPr kumimoji="0" lang="en-US" altLang="zh-CN" sz="2000" b="1" i="0" u="none" strike="noStrike" kern="1200" cap="none" spc="0" normalizeH="0" baseline="3000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2+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fluorescence sensing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Temperature sensing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Dopamine sensing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Oxygen sensing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ElectroCorticoGraphy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(</a:t>
            </a:r>
            <a:r>
              <a:rPr kumimoji="0" lang="en-US" altLang="zh-CN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ECoG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</a:t>
            </a: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8" name="Rectangle 17"/>
          <p:cNvSpPr>
            <a:spLocks noChangeArrowheads="1"/>
          </p:cNvSpPr>
          <p:nvPr/>
        </p:nvSpPr>
        <p:spPr bwMode="auto">
          <a:xfrm>
            <a:off x="6802579" y="1749414"/>
            <a:ext cx="232345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84887"/>
              </a:buClr>
              <a:buSzPct val="120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200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zh-CN" sz="1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Light Sci. Appl. </a:t>
            </a:r>
            <a:r>
              <a:rPr kumimoji="0" lang="de-DE" altLang="zh-CN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(2022)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9" name="Rectangle 17"/>
          <p:cNvSpPr>
            <a:spLocks noChangeArrowheads="1"/>
          </p:cNvSpPr>
          <p:nvPr/>
        </p:nvSpPr>
        <p:spPr bwMode="auto">
          <a:xfrm>
            <a:off x="6802579" y="1452045"/>
            <a:ext cx="140294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84887"/>
              </a:buClr>
              <a:buSzPct val="120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200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zh-CN" sz="1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Arial" panose="020B0604020202020204" pitchFamily="34" charset="0"/>
              </a:rPr>
              <a:t>PNAS</a:t>
            </a:r>
            <a:r>
              <a:rPr kumimoji="0" lang="de-DE" altLang="zh-CN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Arial" panose="020B0604020202020204" pitchFamily="34" charset="0"/>
              </a:rPr>
              <a:t> (2018</a:t>
            </a:r>
            <a:r>
              <a:rPr kumimoji="0" lang="en-US" altLang="zh-CN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  <a:cs typeface="Arial" panose="020B0604020202020204" pitchFamily="34" charset="0"/>
              </a:rPr>
              <a:t>)</a:t>
            </a:r>
            <a:endParaRPr kumimoji="0" lang="de-DE" altLang="zh-CN" sz="1600" b="1" i="0" u="none" strike="noStrike" kern="1200" cap="none" spc="0" normalizeH="0" baseline="0" noProof="0" dirty="0" smtClean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50" name="Rectangle 17"/>
          <p:cNvSpPr>
            <a:spLocks noChangeArrowheads="1"/>
          </p:cNvSpPr>
          <p:nvPr/>
        </p:nvSpPr>
        <p:spPr bwMode="auto">
          <a:xfrm>
            <a:off x="6802579" y="2056253"/>
            <a:ext cx="346909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84887"/>
              </a:buClr>
              <a:buSzPct val="120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200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zh-CN" sz="1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Microsystems &amp; Nanoengr. </a:t>
            </a:r>
            <a:r>
              <a:rPr kumimoji="0" lang="de-DE" altLang="zh-CN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(2020)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52" name="Rectangle 17"/>
          <p:cNvSpPr>
            <a:spLocks noChangeArrowheads="1"/>
          </p:cNvSpPr>
          <p:nvPr/>
        </p:nvSpPr>
        <p:spPr bwMode="auto">
          <a:xfrm>
            <a:off x="6802579" y="2360744"/>
            <a:ext cx="253306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84887"/>
              </a:buClr>
              <a:buSzPct val="120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200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zh-CN" sz="1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Nature Photonics </a:t>
            </a:r>
            <a:r>
              <a:rPr kumimoji="0" lang="de-DE" altLang="zh-CN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(2024)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53" name="Rectangle 17"/>
          <p:cNvSpPr>
            <a:spLocks noChangeArrowheads="1"/>
          </p:cNvSpPr>
          <p:nvPr/>
        </p:nvSpPr>
        <p:spPr bwMode="auto">
          <a:xfrm>
            <a:off x="6802500" y="2636912"/>
            <a:ext cx="242085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84887"/>
              </a:buClr>
              <a:buSzPct val="120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200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zh-CN" sz="16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Science Bulletin </a:t>
            </a:r>
            <a:r>
              <a:rPr kumimoji="0" lang="de-DE" altLang="zh-CN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(2025)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029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10"/>
          <p:cNvSpPr txBox="1">
            <a:spLocks noChangeArrowheads="1"/>
          </p:cNvSpPr>
          <p:nvPr/>
        </p:nvSpPr>
        <p:spPr>
          <a:xfrm>
            <a:off x="609600" y="1412875"/>
            <a:ext cx="10971213" cy="4997450"/>
          </a:xfrm>
          <a:prstGeom prst="rect">
            <a:avLst/>
          </a:prstGeom>
          <a:noFill/>
          <a:ln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2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2000" kern="1200">
                <a:solidFill>
                  <a:srgbClr val="0000CC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zh-CN" b="1" dirty="0">
                <a:solidFill>
                  <a:srgbClr val="000000"/>
                </a:solidFill>
              </a:rPr>
              <a:t>Mature electronic and optical materials (Si, III-Vs, oxides, ...)</a:t>
            </a:r>
          </a:p>
          <a:p>
            <a:pPr lvl="0">
              <a:defRPr/>
            </a:pPr>
            <a:r>
              <a:rPr lang="en-US" altLang="zh-CN" b="1" dirty="0" smtClean="0">
                <a:solidFill>
                  <a:srgbClr val="000000"/>
                </a:solidFill>
              </a:rPr>
              <a:t>Classical principles (quenching, optoelectronics, multiplex, ...)</a:t>
            </a:r>
          </a:p>
          <a:p>
            <a:pPr lvl="0">
              <a:defRPr/>
            </a:pPr>
            <a:r>
              <a:rPr lang="en-US" altLang="zh-CN" b="1" dirty="0" smtClean="0">
                <a:solidFill>
                  <a:srgbClr val="000000"/>
                </a:solidFill>
              </a:rPr>
              <a:t>Unusual </a:t>
            </a:r>
            <a:r>
              <a:rPr lang="en-US" altLang="zh-CN" b="1" dirty="0">
                <a:solidFill>
                  <a:srgbClr val="000000"/>
                </a:solidFill>
              </a:rPr>
              <a:t>design and fabrication strategies</a:t>
            </a:r>
          </a:p>
          <a:p>
            <a:pPr lvl="0">
              <a:defRPr/>
            </a:pPr>
            <a:r>
              <a:rPr lang="en-US" altLang="zh-CN" b="1" dirty="0">
                <a:solidFill>
                  <a:srgbClr val="000000"/>
                </a:solidFill>
              </a:rPr>
              <a:t>Implantable neural interface devices and systems</a:t>
            </a:r>
          </a:p>
          <a:p>
            <a:pPr lvl="0">
              <a:defRPr/>
            </a:pPr>
            <a:r>
              <a:rPr lang="en-US" altLang="zh-CN" b="1" dirty="0">
                <a:solidFill>
                  <a:srgbClr val="000000"/>
                </a:solidFill>
              </a:rPr>
              <a:t>From fundamental neuroscience to applied neuroengineering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8400" y="274638"/>
            <a:ext cx="10971213" cy="1143000"/>
          </a:xfrm>
        </p:spPr>
        <p:txBody>
          <a:bodyPr/>
          <a:lstStyle/>
          <a:p>
            <a:pPr algn="ctr"/>
            <a:r>
              <a:rPr lang="en-US" altLang="zh-CN" sz="4000" dirty="0" smtClean="0"/>
              <a:t>Summary</a:t>
            </a:r>
            <a:endParaRPr lang="zh-CN" altLang="en-US" sz="4000" dirty="0" smtClean="0"/>
          </a:p>
        </p:txBody>
      </p:sp>
      <p:sp>
        <p:nvSpPr>
          <p:cNvPr id="11268" name="Rectangle 13"/>
          <p:cNvSpPr txBox="1">
            <a:spLocks noGrp="1" noChangeArrowheads="1"/>
          </p:cNvSpPr>
          <p:nvPr/>
        </p:nvSpPr>
        <p:spPr bwMode="auto">
          <a:xfrm>
            <a:off x="11277600" y="6381750"/>
            <a:ext cx="91281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84887"/>
              </a:buClr>
              <a:buSzPct val="120000"/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200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r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84887"/>
              </a:buClr>
              <a:buSzPct val="11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E11856-CA97-4A44-968F-77FAB07ADB83}" type="slidenum"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52393" y="4686235"/>
            <a:ext cx="17764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Microscale</a:t>
            </a:r>
            <a:endParaRPr lang="en-US" altLang="zh-CN" sz="2400" b="1" dirty="0">
              <a:solidFill>
                <a:srgbClr val="0070C0"/>
              </a:solidFill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Devices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297406" y="4686234"/>
            <a:ext cx="14526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Neural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Systems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47651" y="3670440"/>
            <a:ext cx="2880003" cy="2880000"/>
          </a:xfrm>
          <a:prstGeom prst="roundRect">
            <a:avLst>
              <a:gd name="adj" fmla="val 4944"/>
            </a:avLst>
          </a:prstGeom>
          <a:ln w="12700">
            <a:solidFill>
              <a:schemeClr val="tx1"/>
            </a:solidFill>
          </a:ln>
        </p:spPr>
      </p:pic>
      <p:sp>
        <p:nvSpPr>
          <p:cNvPr id="34" name="Text Box 15"/>
          <p:cNvSpPr txBox="1">
            <a:spLocks noChangeArrowheads="1"/>
          </p:cNvSpPr>
          <p:nvPr/>
        </p:nvSpPr>
        <p:spPr bwMode="auto">
          <a:xfrm>
            <a:off x="5377881" y="5635043"/>
            <a:ext cx="13468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C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sensing</a:t>
            </a:r>
            <a:endParaRPr lang="zh-CN" altLang="en-US" sz="2400" b="1" dirty="0">
              <a:solidFill>
                <a:srgbClr val="C00000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5178376" y="4623805"/>
            <a:ext cx="1745848" cy="1008112"/>
            <a:chOff x="3618240" y="2041314"/>
            <a:chExt cx="2033880" cy="1166799"/>
          </a:xfrm>
        </p:grpSpPr>
        <p:sp>
          <p:nvSpPr>
            <p:cNvPr id="36" name="右箭头 35"/>
            <p:cNvSpPr/>
            <p:nvPr/>
          </p:nvSpPr>
          <p:spPr bwMode="auto">
            <a:xfrm flipH="1">
              <a:off x="3618240" y="2736974"/>
              <a:ext cx="1946735" cy="471139"/>
            </a:xfrm>
            <a:prstGeom prst="rightArrow">
              <a:avLst>
                <a:gd name="adj1" fmla="val 45537"/>
                <a:gd name="adj2" fmla="val 87936"/>
              </a:avLst>
            </a:prstGeom>
            <a:solidFill>
              <a:srgbClr val="00B0F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820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200" b="1" i="0" u="none" strike="noStrike" normalizeH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微软雅黑" panose="020B0503020204020204" pitchFamily="34" charset="-122"/>
                <a:cs typeface="Arial" charset="0"/>
              </a:endParaRPr>
            </a:p>
          </p:txBody>
        </p:sp>
        <p:sp>
          <p:nvSpPr>
            <p:cNvPr id="37" name="右箭头 36"/>
            <p:cNvSpPr/>
            <p:nvPr/>
          </p:nvSpPr>
          <p:spPr bwMode="auto">
            <a:xfrm>
              <a:off x="3705385" y="2041314"/>
              <a:ext cx="1946735" cy="471139"/>
            </a:xfrm>
            <a:prstGeom prst="rightArrow">
              <a:avLst>
                <a:gd name="adj1" fmla="val 45537"/>
                <a:gd name="adj2" fmla="val 87936"/>
              </a:avLst>
            </a:prstGeom>
            <a:solidFill>
              <a:srgbClr val="00B0F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820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200" b="1" i="0" u="none" strike="noStrike" normalizeH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微软雅黑" panose="020B0503020204020204" pitchFamily="34" charset="-122"/>
                <a:cs typeface="Arial" charset="0"/>
              </a:endParaRPr>
            </a:p>
          </p:txBody>
        </p:sp>
      </p:grpSp>
      <p:sp>
        <p:nvSpPr>
          <p:cNvPr id="38" name="Text Box 15"/>
          <p:cNvSpPr txBox="1">
            <a:spLocks noChangeArrowheads="1"/>
          </p:cNvSpPr>
          <p:nvPr/>
        </p:nvSpPr>
        <p:spPr bwMode="auto">
          <a:xfrm>
            <a:off x="5131019" y="4234148"/>
            <a:ext cx="18405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C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modulation</a:t>
            </a:r>
            <a:endParaRPr lang="zh-CN" altLang="en-US" sz="2400" b="1" dirty="0">
              <a:solidFill>
                <a:srgbClr val="C00000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2062758" y="3670048"/>
            <a:ext cx="2880000" cy="2880000"/>
            <a:chOff x="2062758" y="3670048"/>
            <a:chExt cx="2880000" cy="2880000"/>
          </a:xfrm>
        </p:grpSpPr>
        <p:sp>
          <p:nvSpPr>
            <p:cNvPr id="41" name="AutoShape 6"/>
            <p:cNvSpPr>
              <a:spLocks noChangeAspect="1" noChangeArrowheads="1"/>
            </p:cNvSpPr>
            <p:nvPr/>
          </p:nvSpPr>
          <p:spPr bwMode="auto">
            <a:xfrm>
              <a:off x="2062758" y="3670048"/>
              <a:ext cx="2880000" cy="2880000"/>
            </a:xfrm>
            <a:prstGeom prst="roundRect">
              <a:avLst>
                <a:gd name="adj" fmla="val 4356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84887"/>
                </a:buClr>
                <a:buSzPct val="120000"/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990000"/>
                </a:buClr>
                <a:buSzPct val="60000"/>
                <a:buFont typeface="Wingdings" panose="05000000000000000000" pitchFamily="2" charset="2"/>
                <a:buChar char="r"/>
                <a:defRPr sz="200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84887"/>
                </a:buClr>
                <a:buSzPct val="110000"/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90000"/>
                </a:buClr>
                <a:buSzPct val="60000"/>
                <a:buFont typeface="Wingdings" panose="05000000000000000000" pitchFamily="2" charset="2"/>
                <a:buChar char="r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84887"/>
                </a:buClr>
                <a:buSzPct val="11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84887"/>
                </a:buClr>
                <a:buSzPct val="11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84887"/>
                </a:buClr>
                <a:buSzPct val="11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84887"/>
                </a:buClr>
                <a:buSzPct val="11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84887"/>
                </a:buClr>
                <a:buSzPct val="110000"/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000">
                <a:solidFill>
                  <a:srgbClr val="0000CC"/>
                </a:solidFill>
              </a:endParaRPr>
            </a:p>
          </p:txBody>
        </p:sp>
        <p:pic>
          <p:nvPicPr>
            <p:cNvPr id="42" name="图片 215"/>
            <p:cNvPicPr>
              <a:picLocks/>
            </p:cNvPicPr>
            <p:nvPr>
              <p:custDataLst>
                <p:tags r:id="rId1"/>
              </p:custDataLst>
            </p:nvPr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0905"/>
            <a:stretch/>
          </p:blipFill>
          <p:spPr>
            <a:xfrm rot="16200000">
              <a:off x="1980274" y="3996180"/>
              <a:ext cx="1459199" cy="105600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</p:pic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B2187BE8-FFEF-F374-0B99-9814B51C15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179993" y="5346384"/>
              <a:ext cx="1364507" cy="1088404"/>
            </a:xfrm>
            <a:prstGeom prst="rect">
              <a:avLst/>
            </a:prstGeom>
          </p:spPr>
        </p:pic>
        <p:pic>
          <p:nvPicPr>
            <p:cNvPr id="44" name="图片 43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6965" t="29000" r="17931" b="-1"/>
            <a:stretch/>
          </p:blipFill>
          <p:spPr>
            <a:xfrm rot="16200000">
              <a:off x="3569259" y="3633923"/>
              <a:ext cx="1101129" cy="1422443"/>
            </a:xfrm>
            <a:prstGeom prst="rect">
              <a:avLst/>
            </a:prstGeom>
          </p:spPr>
        </p:pic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00D28B14-19DD-4D80-AF88-6EC293D7886B}"/>
                </a:ext>
              </a:extLst>
            </p:cNvPr>
            <p:cNvCxnSpPr/>
            <p:nvPr/>
          </p:nvCxnSpPr>
          <p:spPr bwMode="auto">
            <a:xfrm>
              <a:off x="2276868" y="3942112"/>
              <a:ext cx="130382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0DDA6E65-88CE-45B6-AB57-AFE14ABA6ED9}"/>
                </a:ext>
              </a:extLst>
            </p:cNvPr>
            <p:cNvSpPr txBox="1"/>
            <p:nvPr/>
          </p:nvSpPr>
          <p:spPr>
            <a:xfrm>
              <a:off x="2411461" y="3789040"/>
              <a:ext cx="8034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smtClean="0">
                  <a:solidFill>
                    <a:schemeClr val="tx1"/>
                  </a:solidFill>
                </a:rPr>
                <a:t>0.1 mm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pic>
          <p:nvPicPr>
            <p:cNvPr id="47" name="图片 46"/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1" r="2278" b="9302"/>
            <a:stretch/>
          </p:blipFill>
          <p:spPr>
            <a:xfrm>
              <a:off x="3870614" y="5073988"/>
              <a:ext cx="928448" cy="1360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19979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4"/>
</p:tagLst>
</file>

<file path=ppt/theme/theme1.xml><?xml version="1.0" encoding="utf-8"?>
<a:theme xmlns:a="http://schemas.openxmlformats.org/drawingml/2006/main" name="4_UIUC">
  <a:themeElements>
    <a:clrScheme name="4_UIU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4_UIUC">
      <a:majorFont>
        <a:latin typeface="Arial"/>
        <a:ea typeface="黑体"/>
        <a:cs typeface="Arial"/>
      </a:majorFont>
      <a:minorFont>
        <a:latin typeface="Arial"/>
        <a:ea typeface="黑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0000CC"/>
            </a:solidFill>
            <a:effectLst/>
            <a:latin typeface="Arial" panose="020B0604020202020204" pitchFamily="34" charset="0"/>
            <a:ea typeface="黑体" panose="02010609060101010101" pitchFamily="49" charset="-122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0000CC"/>
            </a:solidFill>
            <a:effectLst/>
            <a:latin typeface="Arial" panose="020B0604020202020204" pitchFamily="34" charset="0"/>
            <a:ea typeface="黑体" panose="02010609060101010101" pitchFamily="49" charset="-122"/>
            <a:cs typeface="Arial" panose="020B0604020202020204" pitchFamily="34" charset="0"/>
          </a:defRPr>
        </a:defPPr>
      </a:lstStyle>
    </a:lnDef>
  </a:objectDefaults>
  <a:extraClrSchemeLst>
    <a:extraClrScheme>
      <a:clrScheme name="4_UIU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UIUC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UIUC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UIUC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UIUC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UIUC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UIUC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UIUC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UIUC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UIUC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UIUC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UIUC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UIUC">
  <a:themeElements>
    <a:clrScheme name="4_UIU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4_UIUC">
      <a:majorFont>
        <a:latin typeface="Arial"/>
        <a:ea typeface="黑体"/>
        <a:cs typeface="Arial"/>
      </a:majorFont>
      <a:minorFont>
        <a:latin typeface="Arial"/>
        <a:ea typeface="黑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0000CC"/>
            </a:solidFill>
            <a:effectLst/>
            <a:latin typeface="Arial" panose="020B0604020202020204" pitchFamily="34" charset="0"/>
            <a:ea typeface="黑体" panose="02010609060101010101" pitchFamily="49" charset="-122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0000CC"/>
            </a:solidFill>
            <a:effectLst/>
            <a:latin typeface="Arial" panose="020B0604020202020204" pitchFamily="34" charset="0"/>
            <a:ea typeface="黑体" panose="02010609060101010101" pitchFamily="49" charset="-122"/>
            <a:cs typeface="Arial" panose="020B0604020202020204" pitchFamily="34" charset="0"/>
          </a:defRPr>
        </a:defPPr>
      </a:lstStyle>
    </a:lnDef>
  </a:objectDefaults>
  <a:extraClrSchemeLst>
    <a:extraClrScheme>
      <a:clrScheme name="4_UIU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UIUC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UIUC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UIUC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UIUC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UIUC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UIUC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UIUC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UIUC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UIUC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UIUC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UIUC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CCE8C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285</Words>
  <Application>Microsoft Office PowerPoint</Application>
  <PresentationFormat>自定义</PresentationFormat>
  <Paragraphs>102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MS PGothic</vt:lpstr>
      <vt:lpstr>黑体</vt:lpstr>
      <vt:lpstr>宋体</vt:lpstr>
      <vt:lpstr>微软雅黑</vt:lpstr>
      <vt:lpstr>Arial</vt:lpstr>
      <vt:lpstr>Calibri</vt:lpstr>
      <vt:lpstr>Wingdings</vt:lpstr>
      <vt:lpstr>4_UIUC</vt:lpstr>
      <vt:lpstr>5_UIUC</vt:lpstr>
      <vt:lpstr>PowerPoint 演示文稿</vt:lpstr>
      <vt:lpstr>Technology for the Brain</vt:lpstr>
      <vt:lpstr>Implantable Neural Interfaces</vt:lpstr>
      <vt:lpstr>Implantable Neural Interfaces</vt:lpstr>
      <vt:lpstr>Implantable Neural Interfaces</vt:lpstr>
      <vt:lpstr>Implantable Neural Interfaces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2023-03-22T12:43:50Z</dcterms:created>
  <dcterms:modified xsi:type="dcterms:W3CDTF">2026-10-06T08:54:11Z</dcterms:modified>
</cp:coreProperties>
</file>